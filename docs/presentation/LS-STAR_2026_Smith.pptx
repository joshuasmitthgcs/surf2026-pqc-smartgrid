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D3A"/>
                </a:solidFill>
                <a:latin typeface="Calibri"/>
              </a:defRPr>
            </a:pPr>
            <a:r>
              <a:rPr sz="1400" b="0" i="0" u="none" strike="noStrike">
                <a:solidFill>
                  <a:srgbClr val="1F2D3A"/>
                </a:solidFill>
                <a:latin typeface="Calibri"/>
              </a:rPr>
              <a:t>Mean encryption time per ciphertext (ms)</a:t>
            </a:r>
          </a:p>
        </c:rich>
      </c:tx>
      <c:layout/>
      <c:overlay val="0"/>
    </c:title>
    <c:autoTitleDeleted val="0"/>
    <c:plotArea>
      <c:layout/>
      <c:barChart>
        <c:barDir val="col"/>
        <c:grouping val="clustered"/>
        <c:varyColors val="0"/>
        <c:ser>
          <c:idx val="0"/>
          <c:order val="0"/>
          <c:tx>
            <c:strRef>
              <c:f>Sheet1!$B$1</c:f>
              <c:strCache>
                <c:ptCount val="1"/>
                <c:pt idx="0">
                  <c:v>Encrypt</c:v>
                </c:pt>
              </c:strCache>
            </c:strRef>
          </c:tx>
          <c:spPr>
            <a:solidFill>
              <a:srgbClr val="F2A900"/>
            </a:solidFill>
            <a:effectLst/>
          </c:spPr>
          <c:invertIfNegative val="0"/>
          <c:dLbls>
            <c:numFmt formatCode="#,##0.0" sourceLinked="0"/>
            <c:txPr>
              <a:bodyPr/>
              <a:lstStyle/>
              <a:p>
                <a:pPr>
                  <a:defRPr b="0" i="0" strike="noStrike" sz="1400" u="none">
                    <a:solidFill>
                      <a:srgbClr val="1F2D3A"/>
                    </a:solidFill>
                    <a:latin typeface="Calibri"/>
                  </a:defRPr>
                </a:pPr>
              </a:p>
            </c:txPr>
            <c:showLegendKey val="0"/>
            <c:showVal val="1"/>
            <c:showCatName val="0"/>
            <c:showSerName val="0"/>
            <c:showPercent val="0"/>
            <c:showBubbleSize val="0"/>
            <c:showLeaderLines val="0"/>
          </c:dLbls>
          <c:dPt>
            <c:idx val="0"/>
            <c:invertIfNegative val="0"/>
            <c:bubble3D val="0"/>
            <c:spPr>
              <a:solidFill>
                <a:srgbClr val="F2A900"/>
              </a:solidFill>
              <a:effectLst/>
            </c:spPr>
          </c:dPt>
          <c:dPt>
            <c:idx val="1"/>
            <c:invertIfNegative val="0"/>
            <c:bubble3D val="0"/>
            <c:spPr>
              <a:solidFill>
                <a:srgbClr val="1B998B"/>
              </a:solidFill>
              <a:effectLst/>
            </c:spPr>
          </c:dPt>
          <c:dPt>
            <c:idx val="2"/>
            <c:invertIfNegative val="0"/>
            <c:bubble3D val="0"/>
            <c:spPr>
              <a:solidFill>
                <a:srgbClr val="1B998B"/>
              </a:solidFill>
              <a:effectLst/>
            </c:spPr>
          </c:dPt>
          <c:cat>
            <c:multiLvlStrRef>
              <c:f>Sheet1!$A$2:$A$4</c:f>
              <c:multiLvlStrCache>
                <c:ptCount val="3"/>
                <c:lvl>
                  <c:pt idx="0">
                    <c:v>Paillier-2048</c:v>
                  </c:pt>
                  <c:pt idx="1">
                    <c:v>BFV (n=8192)</c:v>
                  </c:pt>
                  <c:pt idx="2">
                    <c:v>CKKS (n=8192)</c:v>
                  </c:pt>
                </c:lvl>
              </c:multiLvlStrCache>
            </c:multiLvlStrRef>
          </c:cat>
          <c:val>
            <c:numRef>
              <c:f>Sheet1!$B$2:$B$4</c:f>
              <c:numCache>
                <c:formatCode>General</c:formatCode>
                <c:ptCount val="3"/>
                <c:pt idx="0">
                  <c:v>125.842</c:v>
                </c:pt>
                <c:pt idx="1">
                  <c:v>2.168</c:v>
                </c:pt>
                <c:pt idx="2">
                  <c:v>2.568</c:v>
                </c:pt>
              </c:numCache>
            </c:numRef>
          </c:val>
        </c:ser>
        <c:dLbls>
          <c:numFmt formatCode="#,##0.0" sourceLinked="0"/>
          <c:txPr>
            <a:bodyPr/>
            <a:lstStyle/>
            <a:p>
              <a:pPr>
                <a:defRPr b="0" i="0" strike="noStrike" sz="1400" u="none">
                  <a:solidFill>
                    <a:srgbClr val="1F2D3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D3A"/>
                </a:solidFill>
                <a:latin typeface="Calibri"/>
              </a:defRPr>
            </a:pPr>
            <a:endParaRPr lang="en-US"/>
          </a:p>
        </c:txPr>
        <c:crossAx val="2094734552"/>
        <c:crosses val="autoZero"/>
        <c:auto val="1"/>
        <c:lblAlgn val="ctr"/>
        <c:noMultiLvlLbl val="1"/>
      </c:catAx>
      <c:valAx>
        <c:axId val="2094734552"/>
        <c:scaling>
          <c:orientation val="minMax"/>
          <c:max val="150"/>
          <c:min val="0"/>
        </c:scaling>
        <c:delete val="0"/>
        <c:axPos val="l"/>
        <c:majorGridlines>
          <c:spPr>
            <a:ln w="6350" cap="flat">
              <a:solidFill>
                <a:srgbClr val="D5DE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7C9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Introduce myself, thank Dr. Vulava and LS-STAR, and name my mentor Dr. Baza. One-sentence preview: I benchmarked three ways of adding up smart-meter readings without ever decrypting them, and then I tried to break the oldest one with a quantum algorithm. [Confirm final title with Dr. Vulava; this is a working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Explain the setting with the three boxes. The point is that the utility needs sums and averages, not individual readings, and individual readings leak household behavior. Homomorphic encryption makes the middle box useful without trusting it. Then frame the two research questions: speed on constrained devices, and security against a future quantum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Dr. Baza's feedback was that the baseline must be a homomorphic scheme, not RSA, so Paillier is the head-to-head baseline. BFV is exact integer arithmetic, good for meter sums. CKKS is approximate real arithmetic, good for averages. The color coding previews the story: Paillier's security rests on factoring, which Shor's algorithm breaks. BFV and CKKS rest on Ring-LWE. Be careful: they are not post-quantum replacements for RSA, they serve a different purpose, and no known quantum algorithm breaks them. I have not implemented NIST PQC algorithms such as ML-KEM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The correctness check matters: before I trust any timing, the encrypted sum of 50 customers' readings has to decrypt to exactly the plaintext sum, 1,153,960 watt-hours. I also validated an earlier London smart-meter dataset. Benchmarks were run on an Apple-silicon MacBook Pro, 50 trials per operation, through one shared benchmark runner so every scheme writes the same CSV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Read the chart left to right: Paillier-2048 takes about 126 ms to encrypt one value and 33 ms to decrypt it. BFV at ring degree 8192 takes about 2.2 ms to encrypt and 0.7 ms to decrypt. That is 58 times and 46 times faster. The chart is a plain linear axis, so the BFV and CKKS bars are small on purpose. Decrypt, not charted: Paillier 33.2 ms versus BFV 0.72 ms. CKKS is in the same range as BFV. Encryption is the number that matters most because it runs on the meter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This is the fairness point. Paillier encrypts one number per ciphertext, so 50 readings means 50 encryptions, about 6.3 seconds. BFV packs all 50 into one ciphertext, so it is one 2.2 millisecond encryption. The 6.3 seconds is my arithmetic: 50 times 125.8 milliseconds, not a separate measurement. The tradeoff to be honest about: BFV's multiplication is much heavier, about 9 ms at degree 8192 and 45 ms at 16384, while Paillier cannot multiply two ciphertexts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The analytical argument. Paillier security rests on factoring the modulus n, and Shor's algorithm factors in polynomial time on a large enough quantum computer. BFV and CKKS rest on Ring-LWE; no known polynomial-time quantum algorithm breaks it, but that is a belief, not a proof. Grover only halves symmetric key strength, which is why AES-256 is the recommendation. Then the transition: a claim is better with an experiment, so I ran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the centerpiece. Walk the four boxes. One: I generated a real Paillier key with the same library the benchmarks use, but at 10 bits instead of 2048 so a simulator can hold it, and encrypted a real smart-grid reading. Two: a quantum circuit builds the modular-exponentiation unitaries and measures the period, nothing about the answer is given to it; this is different from the textbook surrogate demos, which hand the circuit the order. Three: continued fractions turn the measurement into the order 308, and gcd gives 23 and 29. Four: I rebuilt the private key from those factors and decrypted the ciphertext to 136, matching the owner. Say plainly that this is a simulator and a toy key. Q&amp;A answer if asked about success rate: it succeeded on the first base tried in both the 8-bit and 10-bit runs; I did not run enough trials to claim a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This slide protects the credibility of the experiment. My demo is a proof of mechanism, not a threat to any deployed key today. A real 2048-bit modulus needs thousands of logical qubits; the 2n+3 figure, 4,099, is a classroom heuristic. Published hardware estimates: Gidney and Ekerå in 2021 said about 20 million noisy qubits for roughly 8 hours; Gidney in 2025 lowered it to under a million noisy qubits in under a week. Today's machines are far below that. The reason it still matters is harvest-now-decrypt-later, and smart meters stay deployed for 15 to 20 years. [Double-check both citations before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then 1 to 2 minutes of Q&amp;A. Three takeaways, one line each. Then next steps: add BGV for depth-two demand-response computations, benchmark on a Raspberry Pi to see real meter-class hardware, and implement the first NIST post-quantum algorithm, ML-KEM, for the link between meters and the aggregator, since BFV and CKKS protect computation but not the channel. Acknowledge Dr. Baza, LS-STAR, and the Honors College. Likely questions: why not RSA as the baseline (not homomorphic, Dr. Baza's guidance); are BFV/CKKS quantum-safe (believed, not proven, and not a replacement for RSA's role); how big a key could you break (see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1F33"/>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0B1F33"/>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48640"/>
            <a:ext cx="7863840" cy="320040"/>
          </a:xfrm>
          <a:prstGeom prst="rect">
            <a:avLst/>
          </a:prstGeom>
          <a:noFill/>
          <a:ln/>
        </p:spPr>
        <p:txBody>
          <a:bodyPr wrap="square" lIns="0" tIns="0" rIns="0" bIns="0" rtlCol="0" anchor="ctr"/>
          <a:lstStyle/>
          <a:p>
            <a:pPr indent="0" marL="0">
              <a:buNone/>
            </a:pPr>
            <a:r>
              <a:rPr lang="en-US" sz="1400" b="1" spc="200" kern="0" dirty="0">
                <a:solidFill>
                  <a:srgbClr val="F2A900"/>
                </a:solidFill>
              </a:rPr>
              <a:t>2026 LS-STAR Research Banquet</a:t>
            </a:r>
            <a:endParaRPr lang="en-US" sz="1400" dirty="0"/>
          </a:p>
        </p:txBody>
      </p:sp>
      <p:sp>
        <p:nvSpPr>
          <p:cNvPr id="3" name="Text 1"/>
          <p:cNvSpPr txBox="1"/>
          <p:nvPr/>
        </p:nvSpPr>
        <p:spPr>
          <a:xfrm>
            <a:off x="640080" y="1097280"/>
            <a:ext cx="7863840" cy="118872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Computing on Encrypted Smart-Grid Data</a:t>
            </a:r>
            <a:endParaRPr lang="en-US" sz="3600" dirty="0"/>
          </a:p>
        </p:txBody>
      </p:sp>
      <p:sp>
        <p:nvSpPr>
          <p:cNvPr id="4" name="Text 2"/>
          <p:cNvSpPr txBox="1"/>
          <p:nvPr/>
        </p:nvSpPr>
        <p:spPr>
          <a:xfrm>
            <a:off x="640080" y="2468880"/>
            <a:ext cx="6949440" cy="822960"/>
          </a:xfrm>
          <a:prstGeom prst="rect">
            <a:avLst/>
          </a:prstGeom>
          <a:noFill/>
          <a:ln/>
        </p:spPr>
        <p:txBody>
          <a:bodyPr wrap="square" lIns="0" tIns="0" rIns="0" bIns="0" rtlCol="0" anchor="t"/>
          <a:lstStyle/>
          <a:p>
            <a:pPr indent="0" marL="0">
              <a:buNone/>
            </a:pPr>
            <a:r>
              <a:rPr lang="en-US" sz="2000" dirty="0">
                <a:solidFill>
                  <a:srgbClr val="CADCFC"/>
                </a:solidFill>
              </a:rPr>
              <a:t>Benchmarking Paillier, BFV and CKKS, and testing the quantum threat with a real Shor attack</a:t>
            </a:r>
            <a:endParaRPr lang="en-US" sz="2000" dirty="0"/>
          </a:p>
        </p:txBody>
      </p:sp>
      <p:sp>
        <p:nvSpPr>
          <p:cNvPr id="5" name="Text 3"/>
          <p:cNvSpPr txBox="1"/>
          <p:nvPr/>
        </p:nvSpPr>
        <p:spPr>
          <a:xfrm>
            <a:off x="640080" y="3657600"/>
            <a:ext cx="6400800" cy="914400"/>
          </a:xfrm>
          <a:prstGeom prst="rect">
            <a:avLst/>
          </a:prstGeom>
          <a:noFill/>
          <a:ln/>
        </p:spPr>
        <p:txBody>
          <a:bodyPr wrap="square" lIns="0" tIns="0" rIns="0" bIns="0" rtlCol="0" anchor="ctr"/>
          <a:lstStyle/>
          <a:p>
            <a:pPr indent="0" marL="0">
              <a:buNone/>
            </a:pPr>
            <a:r>
              <a:rPr lang="en-US" sz="1400" b="1" dirty="0">
                <a:solidFill>
                  <a:srgbClr val="FFFFFF"/>
                </a:solidFill>
              </a:rPr>
              <a:t>Joshua Smith</a:t>
            </a:r>
            <a:endParaRPr lang="en-US" sz="1400" dirty="0"/>
          </a:p>
          <a:p>
            <a:pPr indent="0" marL="0">
              <a:buNone/>
            </a:pPr>
            <a:r>
              <a:rPr lang="en-US" sz="1400" dirty="0">
                <a:solidFill>
                  <a:srgbClr val="9FB3C8"/>
                </a:solidFill>
              </a:rPr>
              <a:t>College of Charleston | Computer Science | Honors College</a:t>
            </a:r>
            <a:endParaRPr lang="en-US" sz="1400" dirty="0"/>
          </a:p>
          <a:p>
            <a:pPr indent="0" marL="0">
              <a:buNone/>
            </a:pPr>
            <a:r>
              <a:rPr lang="en-US" sz="1400" dirty="0">
                <a:solidFill>
                  <a:srgbClr val="9FB3C8"/>
                </a:solidFill>
              </a:rPr>
              <a:t>SURF 2026 | Mentor: Dr. Mohamed Baza</a:t>
            </a:r>
            <a:endParaRPr lang="en-US" sz="1400" dirty="0"/>
          </a:p>
        </p:txBody>
      </p:sp>
      <p:sp>
        <p:nvSpPr>
          <p:cNvPr id="6" name="lock-circle"/>
          <p:cNvSpPr/>
          <p:nvPr/>
        </p:nvSpPr>
        <p:spPr>
          <a:xfrm>
            <a:off x="6949440" y="3017520"/>
            <a:ext cx="1554480" cy="1554480"/>
          </a:xfrm>
          <a:prstGeom prst="ellipse">
            <a:avLst/>
          </a:prstGeom>
          <a:solidFill>
            <a:srgbClr val="14344F"/>
          </a:solidFill>
          <a:ln w="38100">
            <a:solidFill>
              <a:srgbClr val="F2A900"/>
            </a:solidFill>
            <a:prstDash val="solid"/>
          </a:ln>
        </p:spPr>
      </p:sp>
      <p:sp>
        <p:nvSpPr>
          <p:cNvPr id="7" name="Text 5"/>
          <p:cNvSpPr txBox="1"/>
          <p:nvPr/>
        </p:nvSpPr>
        <p:spPr>
          <a:xfrm>
            <a:off x="6949440" y="3566160"/>
            <a:ext cx="1554480" cy="457200"/>
          </a:xfrm>
          <a:prstGeom prst="rect">
            <a:avLst/>
          </a:prstGeom>
          <a:noFill/>
          <a:ln/>
        </p:spPr>
        <p:txBody>
          <a:bodyPr wrap="square" lIns="0" tIns="0" rIns="0" bIns="0" rtlCol="0" anchor="ctr"/>
          <a:lstStyle/>
          <a:p>
            <a:pPr algn="ctr" indent="0" marL="0">
              <a:buNone/>
            </a:pPr>
            <a:r>
              <a:rPr lang="en-US" sz="1800" b="1" dirty="0">
                <a:solidFill>
                  <a:srgbClr val="F2A900"/>
                </a:solidFill>
                <a:latin typeface="Cambria" pitchFamily="34" charset="0"/>
                <a:ea typeface="Cambria" pitchFamily="34" charset="-122"/>
                <a:cs typeface="Cambria" pitchFamily="34" charset="-120"/>
              </a:rPr>
              <a:t>n = p × q</a:t>
            </a: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1F33"/>
                </a:solidFill>
                <a:latin typeface="Cambria" pitchFamily="34" charset="0"/>
                <a:ea typeface="Cambria" pitchFamily="34" charset="-122"/>
                <a:cs typeface="Cambria" pitchFamily="34" charset="-120"/>
              </a:rPr>
              <a:t>Private readings, useful totals</a:t>
            </a:r>
            <a:endParaRPr lang="en-US" sz="2800" dirty="0"/>
          </a:p>
        </p:txBody>
      </p:sp>
      <p:sp>
        <p:nvSpPr>
          <p:cNvPr id="3" name="node"/>
          <p:cNvSpPr/>
          <p:nvPr/>
        </p:nvSpPr>
        <p:spPr>
          <a:xfrm>
            <a:off x="457200" y="1371600"/>
            <a:ext cx="2377440" cy="1554480"/>
          </a:xfrm>
          <a:prstGeom prst="roundRect">
            <a:avLst>
              <a:gd name="adj" fmla="val 4706"/>
            </a:avLst>
          </a:prstGeom>
          <a:solidFill>
            <a:srgbClr val="EEF3F7"/>
          </a:solidFill>
          <a:ln w="12700">
            <a:solidFill>
              <a:srgbClr val="EEF3F7"/>
            </a:solidFill>
            <a:prstDash val="solid"/>
          </a:ln>
        </p:spPr>
      </p:sp>
      <p:sp>
        <p:nvSpPr>
          <p:cNvPr id="4" name="Shape 2"/>
          <p:cNvSpPr/>
          <p:nvPr/>
        </p:nvSpPr>
        <p:spPr>
          <a:xfrm>
            <a:off x="640080" y="1554480"/>
            <a:ext cx="457200" cy="457200"/>
          </a:xfrm>
          <a:prstGeom prst="ellipse">
            <a:avLst/>
          </a:prstGeom>
          <a:solidFill>
            <a:srgbClr val="5B7C99"/>
          </a:solidFill>
          <a:ln w="12700">
            <a:solidFill>
              <a:srgbClr val="5B7C99"/>
            </a:solidFill>
            <a:prstDash val="solid"/>
          </a:ln>
        </p:spPr>
      </p:sp>
      <p:sp>
        <p:nvSpPr>
          <p:cNvPr id="5" name="Text 3"/>
          <p:cNvSpPr txBox="1"/>
          <p:nvPr/>
        </p:nvSpPr>
        <p:spPr>
          <a:xfrm>
            <a:off x="64008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640080" y="2103120"/>
            <a:ext cx="2103120" cy="320040"/>
          </a:xfrm>
          <a:prstGeom prst="rect">
            <a:avLst/>
          </a:prstGeom>
          <a:noFill/>
          <a:ln/>
        </p:spPr>
        <p:txBody>
          <a:bodyPr wrap="square" lIns="0" tIns="0" rIns="0" bIns="0" rtlCol="0" anchor="ctr"/>
          <a:lstStyle/>
          <a:p>
            <a:pPr indent="0" marL="0">
              <a:buNone/>
            </a:pPr>
            <a:r>
              <a:rPr lang="en-US" sz="1800" b="1" dirty="0">
                <a:solidFill>
                  <a:srgbClr val="0B1F33"/>
                </a:solidFill>
              </a:rPr>
              <a:t>Smart meters</a:t>
            </a:r>
            <a:endParaRPr lang="en-US" sz="1800" dirty="0"/>
          </a:p>
        </p:txBody>
      </p:sp>
      <p:sp>
        <p:nvSpPr>
          <p:cNvPr id="7" name="Text 5"/>
          <p:cNvSpPr txBox="1"/>
          <p:nvPr/>
        </p:nvSpPr>
        <p:spPr>
          <a:xfrm>
            <a:off x="640080" y="2423160"/>
            <a:ext cx="2103120" cy="411480"/>
          </a:xfrm>
          <a:prstGeom prst="rect">
            <a:avLst/>
          </a:prstGeom>
          <a:noFill/>
          <a:ln/>
        </p:spPr>
        <p:txBody>
          <a:bodyPr wrap="square" lIns="0" tIns="0" rIns="0" bIns="0" rtlCol="0" anchor="t"/>
          <a:lstStyle/>
          <a:p>
            <a:pPr indent="0" marL="0">
              <a:buNone/>
            </a:pPr>
            <a:r>
              <a:rPr lang="en-US" sz="1400" dirty="0">
                <a:solidFill>
                  <a:srgbClr val="1F2D3A"/>
                </a:solidFill>
              </a:rPr>
              <a:t>Encrypt each reading at the edge</a:t>
            </a:r>
            <a:endParaRPr lang="en-US" sz="1400" dirty="0"/>
          </a:p>
        </p:txBody>
      </p:sp>
      <p:sp>
        <p:nvSpPr>
          <p:cNvPr id="8" name="Text 6"/>
          <p:cNvSpPr txBox="1"/>
          <p:nvPr/>
        </p:nvSpPr>
        <p:spPr>
          <a:xfrm>
            <a:off x="2852928" y="1828800"/>
            <a:ext cx="457200" cy="457200"/>
          </a:xfrm>
          <a:prstGeom prst="rect">
            <a:avLst/>
          </a:prstGeom>
          <a:noFill/>
          <a:ln/>
        </p:spPr>
        <p:txBody>
          <a:bodyPr wrap="square" lIns="0" tIns="0" rIns="0" bIns="0" rtlCol="0" anchor="ctr"/>
          <a:lstStyle/>
          <a:p>
            <a:pPr algn="ctr" indent="0" marL="0">
              <a:buNone/>
            </a:pPr>
            <a:r>
              <a:rPr lang="en-US" sz="2800" b="1" dirty="0">
                <a:solidFill>
                  <a:srgbClr val="5B7C99"/>
                </a:solidFill>
              </a:rPr>
              <a:t>→</a:t>
            </a:r>
            <a:endParaRPr lang="en-US" sz="2800" dirty="0"/>
          </a:p>
        </p:txBody>
      </p:sp>
      <p:sp>
        <p:nvSpPr>
          <p:cNvPr id="9" name="node"/>
          <p:cNvSpPr/>
          <p:nvPr/>
        </p:nvSpPr>
        <p:spPr>
          <a:xfrm>
            <a:off x="3291840" y="1371600"/>
            <a:ext cx="2377440" cy="1554480"/>
          </a:xfrm>
          <a:prstGeom prst="roundRect">
            <a:avLst>
              <a:gd name="adj" fmla="val 4706"/>
            </a:avLst>
          </a:prstGeom>
          <a:solidFill>
            <a:srgbClr val="EEF3F7"/>
          </a:solidFill>
          <a:ln w="12700">
            <a:solidFill>
              <a:srgbClr val="EEF3F7"/>
            </a:solidFill>
            <a:prstDash val="solid"/>
          </a:ln>
        </p:spPr>
      </p:sp>
      <p:sp>
        <p:nvSpPr>
          <p:cNvPr id="10" name="Shape 8"/>
          <p:cNvSpPr/>
          <p:nvPr/>
        </p:nvSpPr>
        <p:spPr>
          <a:xfrm>
            <a:off x="3474720" y="1554480"/>
            <a:ext cx="457200" cy="457200"/>
          </a:xfrm>
          <a:prstGeom prst="ellipse">
            <a:avLst/>
          </a:prstGeom>
          <a:solidFill>
            <a:srgbClr val="1B998B"/>
          </a:solidFill>
          <a:ln w="12700">
            <a:solidFill>
              <a:srgbClr val="1B998B"/>
            </a:solidFill>
            <a:prstDash val="solid"/>
          </a:ln>
        </p:spPr>
      </p:sp>
      <p:sp>
        <p:nvSpPr>
          <p:cNvPr id="11" name="Text 9"/>
          <p:cNvSpPr txBox="1"/>
          <p:nvPr/>
        </p:nvSpPr>
        <p:spPr>
          <a:xfrm>
            <a:off x="347472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10"/>
          <p:cNvSpPr txBox="1"/>
          <p:nvPr/>
        </p:nvSpPr>
        <p:spPr>
          <a:xfrm>
            <a:off x="3474720" y="2103120"/>
            <a:ext cx="2103120" cy="320040"/>
          </a:xfrm>
          <a:prstGeom prst="rect">
            <a:avLst/>
          </a:prstGeom>
          <a:noFill/>
          <a:ln/>
        </p:spPr>
        <p:txBody>
          <a:bodyPr wrap="square" lIns="0" tIns="0" rIns="0" bIns="0" rtlCol="0" anchor="ctr"/>
          <a:lstStyle/>
          <a:p>
            <a:pPr indent="0" marL="0">
              <a:buNone/>
            </a:pPr>
            <a:r>
              <a:rPr lang="en-US" sz="1800" b="1" dirty="0">
                <a:solidFill>
                  <a:srgbClr val="0B1F33"/>
                </a:solidFill>
              </a:rPr>
              <a:t>Aggregator</a:t>
            </a:r>
            <a:endParaRPr lang="en-US" sz="1800" dirty="0"/>
          </a:p>
        </p:txBody>
      </p:sp>
      <p:sp>
        <p:nvSpPr>
          <p:cNvPr id="13" name="Text 11"/>
          <p:cNvSpPr txBox="1"/>
          <p:nvPr/>
        </p:nvSpPr>
        <p:spPr>
          <a:xfrm>
            <a:off x="3474720" y="2423160"/>
            <a:ext cx="2103120" cy="411480"/>
          </a:xfrm>
          <a:prstGeom prst="rect">
            <a:avLst/>
          </a:prstGeom>
          <a:noFill/>
          <a:ln/>
        </p:spPr>
        <p:txBody>
          <a:bodyPr wrap="square" lIns="0" tIns="0" rIns="0" bIns="0" rtlCol="0" anchor="t"/>
          <a:lstStyle/>
          <a:p>
            <a:pPr indent="0" marL="0">
              <a:buNone/>
            </a:pPr>
            <a:r>
              <a:rPr lang="en-US" sz="1400" dirty="0">
                <a:solidFill>
                  <a:srgbClr val="1F2D3A"/>
                </a:solidFill>
              </a:rPr>
              <a:t>Adds ciphertexts, sees no readings</a:t>
            </a:r>
            <a:endParaRPr lang="en-US" sz="1400" dirty="0"/>
          </a:p>
        </p:txBody>
      </p:sp>
      <p:sp>
        <p:nvSpPr>
          <p:cNvPr id="14" name="Text 12"/>
          <p:cNvSpPr txBox="1"/>
          <p:nvPr/>
        </p:nvSpPr>
        <p:spPr>
          <a:xfrm>
            <a:off x="5687568" y="1828800"/>
            <a:ext cx="457200" cy="457200"/>
          </a:xfrm>
          <a:prstGeom prst="rect">
            <a:avLst/>
          </a:prstGeom>
          <a:noFill/>
          <a:ln/>
        </p:spPr>
        <p:txBody>
          <a:bodyPr wrap="square" lIns="0" tIns="0" rIns="0" bIns="0" rtlCol="0" anchor="ctr"/>
          <a:lstStyle/>
          <a:p>
            <a:pPr algn="ctr" indent="0" marL="0">
              <a:buNone/>
            </a:pPr>
            <a:r>
              <a:rPr lang="en-US" sz="2800" b="1" dirty="0">
                <a:solidFill>
                  <a:srgbClr val="5B7C99"/>
                </a:solidFill>
              </a:rPr>
              <a:t>→</a:t>
            </a:r>
            <a:endParaRPr lang="en-US" sz="2800" dirty="0"/>
          </a:p>
        </p:txBody>
      </p:sp>
      <p:sp>
        <p:nvSpPr>
          <p:cNvPr id="15" name="node"/>
          <p:cNvSpPr/>
          <p:nvPr/>
        </p:nvSpPr>
        <p:spPr>
          <a:xfrm>
            <a:off x="6126480" y="1371600"/>
            <a:ext cx="2377440" cy="1554480"/>
          </a:xfrm>
          <a:prstGeom prst="roundRect">
            <a:avLst>
              <a:gd name="adj" fmla="val 4706"/>
            </a:avLst>
          </a:prstGeom>
          <a:solidFill>
            <a:srgbClr val="EEF3F7"/>
          </a:solidFill>
          <a:ln w="12700">
            <a:solidFill>
              <a:srgbClr val="EEF3F7"/>
            </a:solidFill>
            <a:prstDash val="solid"/>
          </a:ln>
        </p:spPr>
      </p:sp>
      <p:sp>
        <p:nvSpPr>
          <p:cNvPr id="16" name="Shape 14"/>
          <p:cNvSpPr/>
          <p:nvPr/>
        </p:nvSpPr>
        <p:spPr>
          <a:xfrm>
            <a:off x="6309360" y="1554480"/>
            <a:ext cx="457200" cy="457200"/>
          </a:xfrm>
          <a:prstGeom prst="ellipse">
            <a:avLst/>
          </a:prstGeom>
          <a:solidFill>
            <a:srgbClr val="F2A900"/>
          </a:solidFill>
          <a:ln w="12700">
            <a:solidFill>
              <a:srgbClr val="F2A900"/>
            </a:solidFill>
            <a:prstDash val="solid"/>
          </a:ln>
        </p:spPr>
      </p:sp>
      <p:sp>
        <p:nvSpPr>
          <p:cNvPr id="17" name="Text 15"/>
          <p:cNvSpPr txBox="1"/>
          <p:nvPr/>
        </p:nvSpPr>
        <p:spPr>
          <a:xfrm>
            <a:off x="630936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8" name="Text 16"/>
          <p:cNvSpPr txBox="1"/>
          <p:nvPr/>
        </p:nvSpPr>
        <p:spPr>
          <a:xfrm>
            <a:off x="6309360" y="2103120"/>
            <a:ext cx="2103120" cy="320040"/>
          </a:xfrm>
          <a:prstGeom prst="rect">
            <a:avLst/>
          </a:prstGeom>
          <a:noFill/>
          <a:ln/>
        </p:spPr>
        <p:txBody>
          <a:bodyPr wrap="square" lIns="0" tIns="0" rIns="0" bIns="0" rtlCol="0" anchor="ctr"/>
          <a:lstStyle/>
          <a:p>
            <a:pPr indent="0" marL="0">
              <a:buNone/>
            </a:pPr>
            <a:r>
              <a:rPr lang="en-US" sz="1800" b="1" dirty="0">
                <a:solidFill>
                  <a:srgbClr val="0B1F33"/>
                </a:solidFill>
              </a:rPr>
              <a:t>Utility</a:t>
            </a:r>
            <a:endParaRPr lang="en-US" sz="1800" dirty="0"/>
          </a:p>
        </p:txBody>
      </p:sp>
      <p:sp>
        <p:nvSpPr>
          <p:cNvPr id="19" name="Text 17"/>
          <p:cNvSpPr txBox="1"/>
          <p:nvPr/>
        </p:nvSpPr>
        <p:spPr>
          <a:xfrm>
            <a:off x="6309360" y="2423160"/>
            <a:ext cx="2103120" cy="411480"/>
          </a:xfrm>
          <a:prstGeom prst="rect">
            <a:avLst/>
          </a:prstGeom>
          <a:noFill/>
          <a:ln/>
        </p:spPr>
        <p:txBody>
          <a:bodyPr wrap="square" lIns="0" tIns="0" rIns="0" bIns="0" rtlCol="0" anchor="t"/>
          <a:lstStyle/>
          <a:p>
            <a:pPr indent="0" marL="0">
              <a:buNone/>
            </a:pPr>
            <a:r>
              <a:rPr lang="en-US" sz="1400" dirty="0">
                <a:solidFill>
                  <a:srgbClr val="1F2D3A"/>
                </a:solidFill>
              </a:rPr>
              <a:t>Decrypts only the total</a:t>
            </a:r>
            <a:endParaRPr lang="en-US" sz="1400" dirty="0"/>
          </a:p>
        </p:txBody>
      </p:sp>
      <p:sp>
        <p:nvSpPr>
          <p:cNvPr id="20" name="Text 18"/>
          <p:cNvSpPr txBox="1"/>
          <p:nvPr/>
        </p:nvSpPr>
        <p:spPr>
          <a:xfrm>
            <a:off x="457200" y="3291840"/>
            <a:ext cx="8229600" cy="12801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F2D3A"/>
                </a:solidFill>
              </a:rPr>
              <a:t>Readings reveal when people are home, asleep, or away</a:t>
            </a:r>
            <a:endParaRPr lang="en-US" sz="1600" dirty="0"/>
          </a:p>
          <a:p>
            <a:pPr marL="342900" indent="-342900">
              <a:spcAft>
                <a:spcPts val="600"/>
              </a:spcAft>
              <a:buSzPct val="100000"/>
              <a:buChar char="•"/>
            </a:pPr>
            <a:r>
              <a:rPr lang="en-US" sz="1600" dirty="0">
                <a:solidFill>
                  <a:srgbClr val="1F2D3A"/>
                </a:solidFill>
              </a:rPr>
              <a:t>Homomorphic encryption lets the aggregator add without decrypting</a:t>
            </a:r>
            <a:endParaRPr lang="en-US" sz="1600" dirty="0"/>
          </a:p>
          <a:p>
            <a:pPr marL="342900" indent="-342900">
              <a:spcAft>
                <a:spcPts val="600"/>
              </a:spcAft>
              <a:buSzPct val="100000"/>
              <a:buChar char="•"/>
            </a:pPr>
            <a:r>
              <a:rPr lang="en-US" sz="1600" dirty="0">
                <a:solidFill>
                  <a:srgbClr val="1F2D3A"/>
                </a:solidFill>
              </a:rPr>
              <a:t>Question: which scheme is practical on a smart meter, and which survives quantum computers?</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1F33"/>
                </a:solidFill>
                <a:latin typeface="Cambria" pitchFamily="34" charset="0"/>
                <a:ea typeface="Cambria" pitchFamily="34" charset="-122"/>
                <a:cs typeface="Cambria" pitchFamily="34" charset="-120"/>
              </a:rPr>
              <a:t>Three schemes, one classical baseline</a:t>
            </a:r>
            <a:endParaRPr lang="en-US" sz="2800" dirty="0"/>
          </a:p>
        </p:txBody>
      </p:sp>
      <p:sp>
        <p:nvSpPr>
          <p:cNvPr id="3" name="scheme-card"/>
          <p:cNvSpPr/>
          <p:nvPr/>
        </p:nvSpPr>
        <p:spPr>
          <a:xfrm>
            <a:off x="457200" y="1188720"/>
            <a:ext cx="2651760" cy="3108960"/>
          </a:xfrm>
          <a:prstGeom prst="roundRect">
            <a:avLst>
              <a:gd name="adj" fmla="val 2759"/>
            </a:avLst>
          </a:prstGeom>
          <a:solidFill>
            <a:srgbClr val="EEF3F7"/>
          </a:solidFill>
          <a:ln w="12700">
            <a:solidFill>
              <a:srgbClr val="EEF3F7"/>
            </a:solidFill>
            <a:prstDash val="solid"/>
          </a:ln>
        </p:spPr>
      </p:sp>
      <p:sp>
        <p:nvSpPr>
          <p:cNvPr id="4" name="Shape 2"/>
          <p:cNvSpPr/>
          <p:nvPr/>
        </p:nvSpPr>
        <p:spPr>
          <a:xfrm>
            <a:off x="457200" y="1188720"/>
            <a:ext cx="2651760" cy="685800"/>
          </a:xfrm>
          <a:prstGeom prst="rect">
            <a:avLst/>
          </a:prstGeom>
          <a:solidFill>
            <a:srgbClr val="14344F"/>
          </a:solidFill>
          <a:ln w="12700">
            <a:solidFill>
              <a:srgbClr val="14344F"/>
            </a:solidFill>
            <a:prstDash val="solid"/>
          </a:ln>
        </p:spPr>
      </p:sp>
      <p:sp>
        <p:nvSpPr>
          <p:cNvPr id="5" name="Text 3"/>
          <p:cNvSpPr txBox="1"/>
          <p:nvPr/>
        </p:nvSpPr>
        <p:spPr>
          <a:xfrm>
            <a:off x="640080" y="1188720"/>
            <a:ext cx="2286000" cy="6858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Paillier</a:t>
            </a:r>
            <a:endParaRPr lang="en-US" sz="2400" dirty="0"/>
          </a:p>
        </p:txBody>
      </p:sp>
      <p:sp>
        <p:nvSpPr>
          <p:cNvPr id="6" name="Text 4"/>
          <p:cNvSpPr txBox="1"/>
          <p:nvPr/>
        </p:nvSpPr>
        <p:spPr>
          <a:xfrm>
            <a:off x="640080" y="2103120"/>
            <a:ext cx="2286000" cy="2103120"/>
          </a:xfrm>
          <a:prstGeom prst="rect">
            <a:avLst/>
          </a:prstGeom>
          <a:noFill/>
          <a:ln/>
        </p:spPr>
        <p:txBody>
          <a:bodyPr wrap="square" lIns="0" tIns="0" rIns="0" bIns="0" rtlCol="0" anchor="t"/>
          <a:lstStyle/>
          <a:p>
            <a:pPr indent="0" marL="0">
              <a:spcAft>
                <a:spcPts val="1200"/>
              </a:spcAft>
              <a:buNone/>
            </a:pPr>
            <a:r>
              <a:rPr lang="en-US" sz="1700" b="1" dirty="0">
                <a:solidFill>
                  <a:srgbClr val="0B1F33"/>
                </a:solidFill>
              </a:rPr>
              <a:t>Baseline (PHE)</a:t>
            </a:r>
            <a:endParaRPr lang="en-US" sz="1700" dirty="0"/>
          </a:p>
          <a:p>
            <a:pPr indent="0" marL="0">
              <a:spcAft>
                <a:spcPts val="1200"/>
              </a:spcAft>
              <a:buNone/>
            </a:pPr>
            <a:r>
              <a:rPr lang="en-US" sz="1700" dirty="0">
                <a:solidFill>
                  <a:srgbClr val="1F2D3A"/>
                </a:solidFill>
              </a:rPr>
              <a:t>Adds encrypted values only</a:t>
            </a:r>
            <a:endParaRPr lang="en-US" sz="1700" dirty="0"/>
          </a:p>
          <a:p>
            <a:pPr indent="0" marL="0">
              <a:spcAft>
                <a:spcPts val="1200"/>
              </a:spcAft>
              <a:buNone/>
            </a:pPr>
            <a:r>
              <a:rPr lang="en-US" sz="1700" dirty="0">
                <a:solidFill>
                  <a:srgbClr val="1F2D3A"/>
                </a:solidFill>
              </a:rPr>
              <a:t>Hardness: factoring (DCR)</a:t>
            </a:r>
            <a:endParaRPr lang="en-US" sz="1700" dirty="0"/>
          </a:p>
          <a:p>
            <a:pPr indent="0" marL="0">
              <a:spcAft>
                <a:spcPts val="1200"/>
              </a:spcAft>
              <a:buNone/>
            </a:pPr>
            <a:r>
              <a:rPr lang="en-US" sz="1700" b="1" dirty="0">
                <a:solidFill>
                  <a:srgbClr val="D1495B"/>
                </a:solidFill>
              </a:rPr>
              <a:t>Broken by Shor</a:t>
            </a:r>
            <a:endParaRPr lang="en-US" sz="1700" dirty="0"/>
          </a:p>
        </p:txBody>
      </p:sp>
      <p:sp>
        <p:nvSpPr>
          <p:cNvPr id="7" name="scheme-card"/>
          <p:cNvSpPr/>
          <p:nvPr/>
        </p:nvSpPr>
        <p:spPr>
          <a:xfrm>
            <a:off x="3291840" y="1188720"/>
            <a:ext cx="2651760" cy="3108960"/>
          </a:xfrm>
          <a:prstGeom prst="roundRect">
            <a:avLst>
              <a:gd name="adj" fmla="val 2759"/>
            </a:avLst>
          </a:prstGeom>
          <a:solidFill>
            <a:srgbClr val="EEF3F7"/>
          </a:solidFill>
          <a:ln w="12700">
            <a:solidFill>
              <a:srgbClr val="EEF3F7"/>
            </a:solidFill>
            <a:prstDash val="solid"/>
          </a:ln>
        </p:spPr>
      </p:sp>
      <p:sp>
        <p:nvSpPr>
          <p:cNvPr id="8" name="Shape 6"/>
          <p:cNvSpPr/>
          <p:nvPr/>
        </p:nvSpPr>
        <p:spPr>
          <a:xfrm>
            <a:off x="3291840" y="1188720"/>
            <a:ext cx="2651760" cy="685800"/>
          </a:xfrm>
          <a:prstGeom prst="rect">
            <a:avLst/>
          </a:prstGeom>
          <a:solidFill>
            <a:srgbClr val="14344F"/>
          </a:solidFill>
          <a:ln w="12700">
            <a:solidFill>
              <a:srgbClr val="14344F"/>
            </a:solidFill>
            <a:prstDash val="solid"/>
          </a:ln>
        </p:spPr>
      </p:sp>
      <p:sp>
        <p:nvSpPr>
          <p:cNvPr id="9" name="Text 7"/>
          <p:cNvSpPr txBox="1"/>
          <p:nvPr/>
        </p:nvSpPr>
        <p:spPr>
          <a:xfrm>
            <a:off x="3474720" y="1188720"/>
            <a:ext cx="2286000" cy="6858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BFV</a:t>
            </a:r>
            <a:endParaRPr lang="en-US" sz="2400" dirty="0"/>
          </a:p>
        </p:txBody>
      </p:sp>
      <p:sp>
        <p:nvSpPr>
          <p:cNvPr id="10" name="Text 8"/>
          <p:cNvSpPr txBox="1"/>
          <p:nvPr/>
        </p:nvSpPr>
        <p:spPr>
          <a:xfrm>
            <a:off x="3474720" y="2103120"/>
            <a:ext cx="2286000" cy="2103120"/>
          </a:xfrm>
          <a:prstGeom prst="rect">
            <a:avLst/>
          </a:prstGeom>
          <a:noFill/>
          <a:ln/>
        </p:spPr>
        <p:txBody>
          <a:bodyPr wrap="square" lIns="0" tIns="0" rIns="0" bIns="0" rtlCol="0" anchor="t"/>
          <a:lstStyle/>
          <a:p>
            <a:pPr indent="0" marL="0">
              <a:spcAft>
                <a:spcPts val="1200"/>
              </a:spcAft>
              <a:buNone/>
            </a:pPr>
            <a:r>
              <a:rPr lang="en-US" sz="1700" b="1" dirty="0">
                <a:solidFill>
                  <a:srgbClr val="0B1F33"/>
                </a:solidFill>
              </a:rPr>
              <a:t>Exact integers (RLWE)</a:t>
            </a:r>
            <a:endParaRPr lang="en-US" sz="1700" dirty="0"/>
          </a:p>
          <a:p>
            <a:pPr indent="0" marL="0">
              <a:spcAft>
                <a:spcPts val="1200"/>
              </a:spcAft>
              <a:buNone/>
            </a:pPr>
            <a:r>
              <a:rPr lang="en-US" sz="1700" dirty="0">
                <a:solidFill>
                  <a:srgbClr val="1F2D3A"/>
                </a:solidFill>
              </a:rPr>
              <a:t>Add and multiply, batched</a:t>
            </a:r>
            <a:endParaRPr lang="en-US" sz="1700" dirty="0"/>
          </a:p>
          <a:p>
            <a:pPr indent="0" marL="0">
              <a:spcAft>
                <a:spcPts val="1200"/>
              </a:spcAft>
              <a:buNone/>
            </a:pPr>
            <a:r>
              <a:rPr lang="en-US" sz="1700" dirty="0">
                <a:solidFill>
                  <a:srgbClr val="1F2D3A"/>
                </a:solidFill>
              </a:rPr>
              <a:t>Hardness: Ring-LWE</a:t>
            </a:r>
            <a:endParaRPr lang="en-US" sz="1700" dirty="0"/>
          </a:p>
          <a:p>
            <a:pPr indent="0" marL="0">
              <a:spcAft>
                <a:spcPts val="1200"/>
              </a:spcAft>
              <a:buNone/>
            </a:pPr>
            <a:r>
              <a:rPr lang="en-US" sz="1700" b="1" dirty="0">
                <a:solidFill>
                  <a:srgbClr val="1B998B"/>
                </a:solidFill>
              </a:rPr>
              <a:t>No known quantum break</a:t>
            </a:r>
            <a:endParaRPr lang="en-US" sz="1700" dirty="0"/>
          </a:p>
        </p:txBody>
      </p:sp>
      <p:sp>
        <p:nvSpPr>
          <p:cNvPr id="11" name="scheme-card"/>
          <p:cNvSpPr/>
          <p:nvPr/>
        </p:nvSpPr>
        <p:spPr>
          <a:xfrm>
            <a:off x="6126480" y="1188720"/>
            <a:ext cx="2651760" cy="3108960"/>
          </a:xfrm>
          <a:prstGeom prst="roundRect">
            <a:avLst>
              <a:gd name="adj" fmla="val 2759"/>
            </a:avLst>
          </a:prstGeom>
          <a:solidFill>
            <a:srgbClr val="EEF3F7"/>
          </a:solidFill>
          <a:ln w="12700">
            <a:solidFill>
              <a:srgbClr val="EEF3F7"/>
            </a:solidFill>
            <a:prstDash val="solid"/>
          </a:ln>
        </p:spPr>
      </p:sp>
      <p:sp>
        <p:nvSpPr>
          <p:cNvPr id="12" name="Shape 10"/>
          <p:cNvSpPr/>
          <p:nvPr/>
        </p:nvSpPr>
        <p:spPr>
          <a:xfrm>
            <a:off x="6126480" y="1188720"/>
            <a:ext cx="2651760" cy="685800"/>
          </a:xfrm>
          <a:prstGeom prst="rect">
            <a:avLst/>
          </a:prstGeom>
          <a:solidFill>
            <a:srgbClr val="14344F"/>
          </a:solidFill>
          <a:ln w="12700">
            <a:solidFill>
              <a:srgbClr val="14344F"/>
            </a:solidFill>
            <a:prstDash val="solid"/>
          </a:ln>
        </p:spPr>
      </p:sp>
      <p:sp>
        <p:nvSpPr>
          <p:cNvPr id="13" name="Text 11"/>
          <p:cNvSpPr txBox="1"/>
          <p:nvPr/>
        </p:nvSpPr>
        <p:spPr>
          <a:xfrm>
            <a:off x="6309360" y="1188720"/>
            <a:ext cx="2286000" cy="6858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CKKS</a:t>
            </a:r>
            <a:endParaRPr lang="en-US" sz="2400" dirty="0"/>
          </a:p>
        </p:txBody>
      </p:sp>
      <p:sp>
        <p:nvSpPr>
          <p:cNvPr id="14" name="Text 12"/>
          <p:cNvSpPr txBox="1"/>
          <p:nvPr/>
        </p:nvSpPr>
        <p:spPr>
          <a:xfrm>
            <a:off x="6309360" y="2103120"/>
            <a:ext cx="2286000" cy="2103120"/>
          </a:xfrm>
          <a:prstGeom prst="rect">
            <a:avLst/>
          </a:prstGeom>
          <a:noFill/>
          <a:ln/>
        </p:spPr>
        <p:txBody>
          <a:bodyPr wrap="square" lIns="0" tIns="0" rIns="0" bIns="0" rtlCol="0" anchor="t"/>
          <a:lstStyle/>
          <a:p>
            <a:pPr indent="0" marL="0">
              <a:spcAft>
                <a:spcPts val="1200"/>
              </a:spcAft>
              <a:buNone/>
            </a:pPr>
            <a:r>
              <a:rPr lang="en-US" sz="1700" b="1" dirty="0">
                <a:solidFill>
                  <a:srgbClr val="0B1F33"/>
                </a:solidFill>
              </a:rPr>
              <a:t>Approximate reals (RLWE)</a:t>
            </a:r>
            <a:endParaRPr lang="en-US" sz="1700" dirty="0"/>
          </a:p>
          <a:p>
            <a:pPr indent="0" marL="0">
              <a:spcAft>
                <a:spcPts val="1200"/>
              </a:spcAft>
              <a:buNone/>
            </a:pPr>
            <a:r>
              <a:rPr lang="en-US" sz="1700" dirty="0">
                <a:solidFill>
                  <a:srgbClr val="1F2D3A"/>
                </a:solidFill>
              </a:rPr>
              <a:t>Averages and analytics</a:t>
            </a:r>
            <a:endParaRPr lang="en-US" sz="1700" dirty="0"/>
          </a:p>
          <a:p>
            <a:pPr indent="0" marL="0">
              <a:spcAft>
                <a:spcPts val="1200"/>
              </a:spcAft>
              <a:buNone/>
            </a:pPr>
            <a:r>
              <a:rPr lang="en-US" sz="1700" dirty="0">
                <a:solidFill>
                  <a:srgbClr val="1F2D3A"/>
                </a:solidFill>
              </a:rPr>
              <a:t>Hardness: Ring-LWE</a:t>
            </a:r>
            <a:endParaRPr lang="en-US" sz="1700" dirty="0"/>
          </a:p>
          <a:p>
            <a:pPr indent="0" marL="0">
              <a:spcAft>
                <a:spcPts val="1200"/>
              </a:spcAft>
              <a:buNone/>
            </a:pPr>
            <a:r>
              <a:rPr lang="en-US" sz="1700" b="1" dirty="0">
                <a:solidFill>
                  <a:srgbClr val="1B998B"/>
                </a:solidFill>
              </a:rPr>
              <a:t>No known quantum break</a:t>
            </a:r>
            <a:endParaRPr lang="en-US" sz="1700" dirty="0"/>
          </a:p>
        </p:txBody>
      </p:sp>
      <p:sp>
        <p:nvSpPr>
          <p:cNvPr id="15" name="source"/>
          <p:cNvSpPr txBox="1"/>
          <p:nvPr/>
        </p:nvSpPr>
        <p:spPr>
          <a:xfrm>
            <a:off x="457200" y="4754880"/>
            <a:ext cx="7772400" cy="274320"/>
          </a:xfrm>
          <a:prstGeom prst="rect">
            <a:avLst/>
          </a:prstGeom>
          <a:noFill/>
          <a:ln/>
        </p:spPr>
        <p:txBody>
          <a:bodyPr wrap="square" lIns="0" tIns="0" rIns="0" bIns="0" rtlCol="0" anchor="ctr"/>
          <a:lstStyle/>
          <a:p>
            <a:pPr indent="0" marL="0">
              <a:buNone/>
            </a:pPr>
            <a:r>
              <a:rPr lang="en-US" sz="1000" dirty="0">
                <a:solidFill>
                  <a:srgbClr val="7A8CA0"/>
                </a:solidFill>
              </a:rPr>
              <a:t>AES-GCM and RSA stay in the repo as context-only references. No NIST PQC algorithms are implemented yet.</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1F33"/>
                </a:solidFill>
                <a:latin typeface="Cambria" pitchFamily="34" charset="0"/>
                <a:ea typeface="Cambria" pitchFamily="34" charset="-122"/>
                <a:cs typeface="Cambria" pitchFamily="34" charset="-120"/>
              </a:rPr>
              <a:t>Real utility data, verified end to end</a:t>
            </a:r>
            <a:endParaRPr lang="en-US" sz="2800" dirty="0"/>
          </a:p>
        </p:txBody>
      </p:sp>
      <p:sp>
        <p:nvSpPr>
          <p:cNvPr id="3" name="stat"/>
          <p:cNvSpPr/>
          <p:nvPr/>
        </p:nvSpPr>
        <p:spPr>
          <a:xfrm>
            <a:off x="457200" y="1280160"/>
            <a:ext cx="2651760" cy="1828800"/>
          </a:xfrm>
          <a:prstGeom prst="roundRect">
            <a:avLst>
              <a:gd name="adj" fmla="val 4000"/>
            </a:avLst>
          </a:prstGeom>
          <a:solidFill>
            <a:srgbClr val="EEF3F7"/>
          </a:solidFill>
          <a:ln w="12700">
            <a:solidFill>
              <a:srgbClr val="EEF3F7"/>
            </a:solidFill>
            <a:prstDash val="solid"/>
          </a:ln>
        </p:spPr>
      </p:sp>
      <p:sp>
        <p:nvSpPr>
          <p:cNvPr id="4" name="Text 2"/>
          <p:cNvSpPr txBox="1"/>
          <p:nvPr/>
        </p:nvSpPr>
        <p:spPr>
          <a:xfrm>
            <a:off x="594360" y="1463040"/>
            <a:ext cx="2377440" cy="731520"/>
          </a:xfrm>
          <a:prstGeom prst="rect">
            <a:avLst/>
          </a:prstGeom>
          <a:noFill/>
          <a:ln/>
        </p:spPr>
        <p:txBody>
          <a:bodyPr wrap="square" lIns="0" tIns="0" rIns="0" bIns="0" rtlCol="0" anchor="ctr"/>
          <a:lstStyle/>
          <a:p>
            <a:pPr algn="ctr" indent="0" marL="0">
              <a:buNone/>
            </a:pPr>
            <a:r>
              <a:rPr lang="en-US" sz="4000" b="1" dirty="0">
                <a:solidFill>
                  <a:srgbClr val="0B1F33"/>
                </a:solidFill>
                <a:latin typeface="Cambria" pitchFamily="34" charset="0"/>
                <a:ea typeface="Cambria" pitchFamily="34" charset="-122"/>
                <a:cs typeface="Cambria" pitchFamily="34" charset="-120"/>
              </a:rPr>
              <a:t>42,372</a:t>
            </a:r>
            <a:endParaRPr lang="en-US" sz="4000" dirty="0"/>
          </a:p>
        </p:txBody>
      </p:sp>
      <p:sp>
        <p:nvSpPr>
          <p:cNvPr id="5" name="Text 3"/>
          <p:cNvSpPr txBox="1"/>
          <p:nvPr/>
        </p:nvSpPr>
        <p:spPr>
          <a:xfrm>
            <a:off x="594360" y="2286000"/>
            <a:ext cx="2377440" cy="685800"/>
          </a:xfrm>
          <a:prstGeom prst="rect">
            <a:avLst/>
          </a:prstGeom>
          <a:noFill/>
          <a:ln/>
        </p:spPr>
        <p:txBody>
          <a:bodyPr wrap="square" lIns="0" tIns="0" rIns="0" bIns="0" rtlCol="0" anchor="t"/>
          <a:lstStyle/>
          <a:p>
            <a:pPr algn="ctr" indent="0" marL="0">
              <a:buNone/>
            </a:pPr>
            <a:r>
              <a:rPr lang="en-US" sz="1400" dirty="0">
                <a:solidFill>
                  <a:srgbClr val="1F2D3A"/>
                </a:solidFill>
              </a:rPr>
              <a:t>customers in the SGCC electricity-theft dataset</a:t>
            </a:r>
            <a:endParaRPr lang="en-US" sz="1400" dirty="0"/>
          </a:p>
        </p:txBody>
      </p:sp>
      <p:sp>
        <p:nvSpPr>
          <p:cNvPr id="6" name="stat"/>
          <p:cNvSpPr/>
          <p:nvPr/>
        </p:nvSpPr>
        <p:spPr>
          <a:xfrm>
            <a:off x="3291840" y="1280160"/>
            <a:ext cx="2651760" cy="1828800"/>
          </a:xfrm>
          <a:prstGeom prst="roundRect">
            <a:avLst>
              <a:gd name="adj" fmla="val 4000"/>
            </a:avLst>
          </a:prstGeom>
          <a:solidFill>
            <a:srgbClr val="EEF3F7"/>
          </a:solidFill>
          <a:ln w="12700">
            <a:solidFill>
              <a:srgbClr val="EEF3F7"/>
            </a:solidFill>
            <a:prstDash val="solid"/>
          </a:ln>
        </p:spPr>
      </p:sp>
      <p:sp>
        <p:nvSpPr>
          <p:cNvPr id="7" name="Text 5"/>
          <p:cNvSpPr txBox="1"/>
          <p:nvPr/>
        </p:nvSpPr>
        <p:spPr>
          <a:xfrm>
            <a:off x="3429000" y="1463040"/>
            <a:ext cx="2377440" cy="731520"/>
          </a:xfrm>
          <a:prstGeom prst="rect">
            <a:avLst/>
          </a:prstGeom>
          <a:noFill/>
          <a:ln/>
        </p:spPr>
        <p:txBody>
          <a:bodyPr wrap="square" lIns="0" tIns="0" rIns="0" bIns="0" rtlCol="0" anchor="ctr"/>
          <a:lstStyle/>
          <a:p>
            <a:pPr algn="ctr" indent="0" marL="0">
              <a:buNone/>
            </a:pPr>
            <a:r>
              <a:rPr lang="en-US" sz="4000" b="1" dirty="0">
                <a:solidFill>
                  <a:srgbClr val="0B1F33"/>
                </a:solidFill>
                <a:latin typeface="Cambria" pitchFamily="34" charset="0"/>
                <a:ea typeface="Cambria" pitchFamily="34" charset="-122"/>
                <a:cs typeface="Cambria" pitchFamily="34" charset="-120"/>
              </a:rPr>
              <a:t>50</a:t>
            </a:r>
            <a:endParaRPr lang="en-US" sz="4000" dirty="0"/>
          </a:p>
        </p:txBody>
      </p:sp>
      <p:sp>
        <p:nvSpPr>
          <p:cNvPr id="8" name="Text 6"/>
          <p:cNvSpPr txBox="1"/>
          <p:nvPr/>
        </p:nvSpPr>
        <p:spPr>
          <a:xfrm>
            <a:off x="3429000" y="2286000"/>
            <a:ext cx="2377440" cy="685800"/>
          </a:xfrm>
          <a:prstGeom prst="rect">
            <a:avLst/>
          </a:prstGeom>
          <a:noFill/>
          <a:ln/>
        </p:spPr>
        <p:txBody>
          <a:bodyPr wrap="square" lIns="0" tIns="0" rIns="0" bIns="0" rtlCol="0" anchor="t"/>
          <a:lstStyle/>
          <a:p>
            <a:pPr algn="ctr" indent="0" marL="0">
              <a:buNone/>
            </a:pPr>
            <a:r>
              <a:rPr lang="en-US" sz="1400" dirty="0">
                <a:solidFill>
                  <a:srgbClr val="1F2D3A"/>
                </a:solidFill>
              </a:rPr>
              <a:t>customers aggregated on date 2016-08-02</a:t>
            </a:r>
            <a:endParaRPr lang="en-US" sz="1400" dirty="0"/>
          </a:p>
        </p:txBody>
      </p:sp>
      <p:sp>
        <p:nvSpPr>
          <p:cNvPr id="9" name="stat"/>
          <p:cNvSpPr/>
          <p:nvPr/>
        </p:nvSpPr>
        <p:spPr>
          <a:xfrm>
            <a:off x="6126480" y="1280160"/>
            <a:ext cx="2651760" cy="1828800"/>
          </a:xfrm>
          <a:prstGeom prst="roundRect">
            <a:avLst>
              <a:gd name="adj" fmla="val 4000"/>
            </a:avLst>
          </a:prstGeom>
          <a:solidFill>
            <a:srgbClr val="EEF3F7"/>
          </a:solidFill>
          <a:ln w="12700">
            <a:solidFill>
              <a:srgbClr val="EEF3F7"/>
            </a:solidFill>
            <a:prstDash val="solid"/>
          </a:ln>
        </p:spPr>
      </p:sp>
      <p:sp>
        <p:nvSpPr>
          <p:cNvPr id="10" name="Text 8"/>
          <p:cNvSpPr txBox="1"/>
          <p:nvPr/>
        </p:nvSpPr>
        <p:spPr>
          <a:xfrm>
            <a:off x="6263640" y="1463040"/>
            <a:ext cx="2377440" cy="731520"/>
          </a:xfrm>
          <a:prstGeom prst="rect">
            <a:avLst/>
          </a:prstGeom>
          <a:noFill/>
          <a:ln/>
        </p:spPr>
        <p:txBody>
          <a:bodyPr wrap="square" lIns="0" tIns="0" rIns="0" bIns="0" rtlCol="0" anchor="ctr"/>
          <a:lstStyle/>
          <a:p>
            <a:pPr algn="ctr" indent="0" marL="0">
              <a:buNone/>
            </a:pPr>
            <a:r>
              <a:rPr lang="en-US" sz="2800" b="1" dirty="0">
                <a:solidFill>
                  <a:srgbClr val="1B998B"/>
                </a:solidFill>
                <a:latin typeface="Cambria" pitchFamily="34" charset="0"/>
                <a:ea typeface="Cambria" pitchFamily="34" charset="-122"/>
                <a:cs typeface="Cambria" pitchFamily="34" charset="-120"/>
              </a:rPr>
              <a:t>1,153,960 Wh</a:t>
            </a:r>
            <a:endParaRPr lang="en-US" sz="2800" dirty="0"/>
          </a:p>
        </p:txBody>
      </p:sp>
      <p:sp>
        <p:nvSpPr>
          <p:cNvPr id="11" name="Text 9"/>
          <p:cNvSpPr txBox="1"/>
          <p:nvPr/>
        </p:nvSpPr>
        <p:spPr>
          <a:xfrm>
            <a:off x="6263640" y="2286000"/>
            <a:ext cx="2377440" cy="685800"/>
          </a:xfrm>
          <a:prstGeom prst="rect">
            <a:avLst/>
          </a:prstGeom>
          <a:noFill/>
          <a:ln/>
        </p:spPr>
        <p:txBody>
          <a:bodyPr wrap="square" lIns="0" tIns="0" rIns="0" bIns="0" rtlCol="0" anchor="t"/>
          <a:lstStyle/>
          <a:p>
            <a:pPr algn="ctr" indent="0" marL="0">
              <a:buNone/>
            </a:pPr>
            <a:r>
              <a:rPr lang="en-US" sz="1400" dirty="0">
                <a:solidFill>
                  <a:srgbClr val="1F2D3A"/>
                </a:solidFill>
              </a:rPr>
              <a:t>encrypted total, decrypted equals expected</a:t>
            </a:r>
            <a:endParaRPr lang="en-US" sz="1400" dirty="0"/>
          </a:p>
        </p:txBody>
      </p:sp>
      <p:sp>
        <p:nvSpPr>
          <p:cNvPr id="12" name="Text 10"/>
          <p:cNvSpPr txBox="1"/>
          <p:nvPr/>
        </p:nvSpPr>
        <p:spPr>
          <a:xfrm>
            <a:off x="457200" y="3383280"/>
            <a:ext cx="8229600" cy="11887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F2D3A"/>
                </a:solidFill>
              </a:rPr>
              <a:t>Source: State Grid Corporation of China daily consumption readings</a:t>
            </a:r>
            <a:endParaRPr lang="en-US" sz="1600" dirty="0"/>
          </a:p>
          <a:p>
            <a:pPr marL="342900" indent="-342900">
              <a:spcAft>
                <a:spcPts val="600"/>
              </a:spcAft>
              <a:buSzPct val="100000"/>
              <a:buChar char="•"/>
            </a:pPr>
            <a:r>
              <a:rPr lang="en-US" sz="1600" dirty="0">
                <a:solidFill>
                  <a:srgbClr val="1F2D3A"/>
                </a:solidFill>
              </a:rPr>
              <a:t>Paillier and BFV use scaled integers; CKKS uses real values</a:t>
            </a:r>
            <a:endParaRPr lang="en-US" sz="1600" dirty="0"/>
          </a:p>
          <a:p>
            <a:pPr marL="342900" indent="-342900">
              <a:spcAft>
                <a:spcPts val="600"/>
              </a:spcAft>
              <a:buSzPct val="100000"/>
              <a:buChar char="•"/>
            </a:pPr>
            <a:r>
              <a:rPr lang="en-US" sz="1600" dirty="0">
                <a:solidFill>
                  <a:srgbClr val="1F2D3A"/>
                </a:solidFill>
              </a:rPr>
              <a:t>Every scheme passed the same correctness check before timing</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1F33"/>
                </a:solidFill>
                <a:latin typeface="Cambria" pitchFamily="34" charset="0"/>
                <a:ea typeface="Cambria" pitchFamily="34" charset="-122"/>
                <a:cs typeface="Cambria" pitchFamily="34" charset="-120"/>
              </a:rPr>
              <a:t>BFV and CKKS are ~50× faster than Paillier</a:t>
            </a:r>
            <a:endParaRPr lang="en-US" sz="2800" dirty="0"/>
          </a:p>
        </p:txBody>
      </p:sp>
      <p:graphicFrame>
        <p:nvGraphicFramePr>
          <p:cNvPr id="3" name="Chart 0" descr=""/>
          <p:cNvGraphicFramePr/>
          <p:nvPr/>
        </p:nvGraphicFramePr>
        <p:xfrm>
          <a:off x="457200" y="1097280"/>
          <a:ext cx="5394960" cy="3566160"/>
        </p:xfrm>
        <a:graphic xmlns:a="http://schemas.openxmlformats.org/drawingml/2006/main">
          <a:graphicData uri="http://schemas.openxmlformats.org/drawingml/2006/chart">
            <c:chart xmlns:c="http://schemas.openxmlformats.org/drawingml/2006/chart" r:id="rId1"/>
          </a:graphicData>
        </a:graphic>
      </p:graphicFrame>
      <p:sp>
        <p:nvSpPr>
          <p:cNvPr id="4" name="callout"/>
          <p:cNvSpPr/>
          <p:nvPr/>
        </p:nvSpPr>
        <p:spPr>
          <a:xfrm>
            <a:off x="6126480" y="1188720"/>
            <a:ext cx="2560320" cy="1600200"/>
          </a:xfrm>
          <a:prstGeom prst="roundRect">
            <a:avLst>
              <a:gd name="adj" fmla="val 4571"/>
            </a:avLst>
          </a:prstGeom>
          <a:solidFill>
            <a:srgbClr val="EEF3F7"/>
          </a:solidFill>
          <a:ln w="12700">
            <a:solidFill>
              <a:srgbClr val="EEF3F7"/>
            </a:solidFill>
            <a:prstDash val="solid"/>
          </a:ln>
        </p:spPr>
      </p:sp>
      <p:sp>
        <p:nvSpPr>
          <p:cNvPr id="5" name="Text 2"/>
          <p:cNvSpPr txBox="1"/>
          <p:nvPr/>
        </p:nvSpPr>
        <p:spPr>
          <a:xfrm>
            <a:off x="6263640" y="1280160"/>
            <a:ext cx="2286000" cy="731520"/>
          </a:xfrm>
          <a:prstGeom prst="rect">
            <a:avLst/>
          </a:prstGeom>
          <a:noFill/>
          <a:ln/>
        </p:spPr>
        <p:txBody>
          <a:bodyPr wrap="square" lIns="0" tIns="0" rIns="0" bIns="0" rtlCol="0" anchor="ctr"/>
          <a:lstStyle/>
          <a:p>
            <a:pPr algn="ctr" indent="0" marL="0">
              <a:buNone/>
            </a:pPr>
            <a:r>
              <a:rPr lang="en-US" sz="4400" b="1" dirty="0">
                <a:solidFill>
                  <a:srgbClr val="1B998B"/>
                </a:solidFill>
                <a:latin typeface="Cambria" pitchFamily="34" charset="0"/>
                <a:ea typeface="Cambria" pitchFamily="34" charset="-122"/>
                <a:cs typeface="Cambria" pitchFamily="34" charset="-120"/>
              </a:rPr>
              <a:t>58×</a:t>
            </a:r>
            <a:endParaRPr lang="en-US" sz="4400" dirty="0"/>
          </a:p>
        </p:txBody>
      </p:sp>
      <p:sp>
        <p:nvSpPr>
          <p:cNvPr id="6" name="Text 3"/>
          <p:cNvSpPr txBox="1"/>
          <p:nvPr/>
        </p:nvSpPr>
        <p:spPr>
          <a:xfrm>
            <a:off x="6263640" y="2057400"/>
            <a:ext cx="2286000" cy="548640"/>
          </a:xfrm>
          <a:prstGeom prst="rect">
            <a:avLst/>
          </a:prstGeom>
          <a:noFill/>
          <a:ln/>
        </p:spPr>
        <p:txBody>
          <a:bodyPr wrap="square" lIns="0" tIns="0" rIns="0" bIns="0" rtlCol="0" anchor="t"/>
          <a:lstStyle/>
          <a:p>
            <a:pPr algn="ctr" indent="0" marL="0">
              <a:buNone/>
            </a:pPr>
            <a:r>
              <a:rPr lang="en-US" sz="1400" dirty="0">
                <a:solidFill>
                  <a:srgbClr val="1F2D3A"/>
                </a:solidFill>
              </a:rPr>
              <a:t>faster encryption, BFV vs Paillier</a:t>
            </a:r>
            <a:endParaRPr lang="en-US" sz="1400" dirty="0"/>
          </a:p>
        </p:txBody>
      </p:sp>
      <p:sp>
        <p:nvSpPr>
          <p:cNvPr id="7" name="callout"/>
          <p:cNvSpPr/>
          <p:nvPr/>
        </p:nvSpPr>
        <p:spPr>
          <a:xfrm>
            <a:off x="6126480" y="2926080"/>
            <a:ext cx="2560320" cy="1600200"/>
          </a:xfrm>
          <a:prstGeom prst="roundRect">
            <a:avLst>
              <a:gd name="adj" fmla="val 4571"/>
            </a:avLst>
          </a:prstGeom>
          <a:solidFill>
            <a:srgbClr val="EEF3F7"/>
          </a:solidFill>
          <a:ln w="12700">
            <a:solidFill>
              <a:srgbClr val="EEF3F7"/>
            </a:solidFill>
            <a:prstDash val="solid"/>
          </a:ln>
        </p:spPr>
      </p:sp>
      <p:sp>
        <p:nvSpPr>
          <p:cNvPr id="8" name="Text 5"/>
          <p:cNvSpPr txBox="1"/>
          <p:nvPr/>
        </p:nvSpPr>
        <p:spPr>
          <a:xfrm>
            <a:off x="6263640" y="3017520"/>
            <a:ext cx="2286000" cy="731520"/>
          </a:xfrm>
          <a:prstGeom prst="rect">
            <a:avLst/>
          </a:prstGeom>
          <a:noFill/>
          <a:ln/>
        </p:spPr>
        <p:txBody>
          <a:bodyPr wrap="square" lIns="0" tIns="0" rIns="0" bIns="0" rtlCol="0" anchor="ctr"/>
          <a:lstStyle/>
          <a:p>
            <a:pPr algn="ctr" indent="0" marL="0">
              <a:buNone/>
            </a:pPr>
            <a:r>
              <a:rPr lang="en-US" sz="4400" b="1" dirty="0">
                <a:solidFill>
                  <a:srgbClr val="1B998B"/>
                </a:solidFill>
                <a:latin typeface="Cambria" pitchFamily="34" charset="0"/>
                <a:ea typeface="Cambria" pitchFamily="34" charset="-122"/>
                <a:cs typeface="Cambria" pitchFamily="34" charset="-120"/>
              </a:rPr>
              <a:t>46×</a:t>
            </a:r>
            <a:endParaRPr lang="en-US" sz="4400" dirty="0"/>
          </a:p>
        </p:txBody>
      </p:sp>
      <p:sp>
        <p:nvSpPr>
          <p:cNvPr id="9" name="Text 6"/>
          <p:cNvSpPr txBox="1"/>
          <p:nvPr/>
        </p:nvSpPr>
        <p:spPr>
          <a:xfrm>
            <a:off x="6263640" y="3794760"/>
            <a:ext cx="2286000" cy="548640"/>
          </a:xfrm>
          <a:prstGeom prst="rect">
            <a:avLst/>
          </a:prstGeom>
          <a:noFill/>
          <a:ln/>
        </p:spPr>
        <p:txBody>
          <a:bodyPr wrap="square" lIns="0" tIns="0" rIns="0" bIns="0" rtlCol="0" anchor="t"/>
          <a:lstStyle/>
          <a:p>
            <a:pPr algn="ctr" indent="0" marL="0">
              <a:buNone/>
            </a:pPr>
            <a:r>
              <a:rPr lang="en-US" sz="1400" dirty="0">
                <a:solidFill>
                  <a:srgbClr val="1F2D3A"/>
                </a:solidFill>
              </a:rPr>
              <a:t>faster decryption, BFV vs Paillier</a:t>
            </a:r>
            <a:endParaRPr lang="en-US" sz="1400" dirty="0"/>
          </a:p>
        </p:txBody>
      </p:sp>
      <p:sp>
        <p:nvSpPr>
          <p:cNvPr id="10" name="source"/>
          <p:cNvSpPr txBox="1"/>
          <p:nvPr/>
        </p:nvSpPr>
        <p:spPr>
          <a:xfrm>
            <a:off x="457200" y="4754880"/>
            <a:ext cx="7772400" cy="274320"/>
          </a:xfrm>
          <a:prstGeom prst="rect">
            <a:avLst/>
          </a:prstGeom>
          <a:noFill/>
          <a:ln/>
        </p:spPr>
        <p:txBody>
          <a:bodyPr wrap="square" lIns="0" tIns="0" rIns="0" bIns="0" rtlCol="0" anchor="ctr"/>
          <a:lstStyle/>
          <a:p>
            <a:pPr indent="0" marL="0">
              <a:buNone/>
            </a:pPr>
            <a:r>
              <a:rPr lang="en-US" sz="1000" dirty="0">
                <a:solidFill>
                  <a:srgbClr val="7A8CA0"/>
                </a:solidFill>
              </a:rPr>
              <a:t>Source: SGCC run, 50 customers, 50 trials, Apple-silicon MacBook Pro. Decrypt: 33.2 ms vs 0.72 ms.</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1F33"/>
                </a:solidFill>
                <a:latin typeface="Cambria" pitchFamily="34" charset="0"/>
                <a:ea typeface="Cambria" pitchFamily="34" charset="-122"/>
                <a:cs typeface="Cambria" pitchFamily="34" charset="-120"/>
              </a:rPr>
              <a:t>Batching changes the cost at fleet scale</a:t>
            </a:r>
            <a:endParaRPr lang="en-US" sz="2800" dirty="0"/>
          </a:p>
        </p:txBody>
      </p:sp>
      <p:sp>
        <p:nvSpPr>
          <p:cNvPr id="3" name="compare"/>
          <p:cNvSpPr/>
          <p:nvPr/>
        </p:nvSpPr>
        <p:spPr>
          <a:xfrm>
            <a:off x="457200" y="1188720"/>
            <a:ext cx="4023360" cy="3200400"/>
          </a:xfrm>
          <a:prstGeom prst="roundRect">
            <a:avLst>
              <a:gd name="adj" fmla="val 2286"/>
            </a:avLst>
          </a:prstGeom>
          <a:solidFill>
            <a:srgbClr val="EEF3F7"/>
          </a:solidFill>
          <a:ln w="12700">
            <a:solidFill>
              <a:srgbClr val="EEF3F7"/>
            </a:solidFill>
            <a:prstDash val="solid"/>
          </a:ln>
        </p:spPr>
      </p:sp>
      <p:sp>
        <p:nvSpPr>
          <p:cNvPr id="4" name="Text 2"/>
          <p:cNvSpPr txBox="1"/>
          <p:nvPr/>
        </p:nvSpPr>
        <p:spPr>
          <a:xfrm>
            <a:off x="731520" y="1325880"/>
            <a:ext cx="3474720" cy="365760"/>
          </a:xfrm>
          <a:prstGeom prst="rect">
            <a:avLst/>
          </a:prstGeom>
          <a:noFill/>
          <a:ln/>
        </p:spPr>
        <p:txBody>
          <a:bodyPr wrap="square" lIns="0" tIns="0" rIns="0" bIns="0" rtlCol="0" anchor="ctr"/>
          <a:lstStyle/>
          <a:p>
            <a:pPr indent="0" marL="0">
              <a:buNone/>
            </a:pPr>
            <a:r>
              <a:rPr lang="en-US" sz="2000" b="1" dirty="0">
                <a:solidFill>
                  <a:srgbClr val="0B1F33"/>
                </a:solidFill>
                <a:latin typeface="Cambria" pitchFamily="34" charset="0"/>
                <a:ea typeface="Cambria" pitchFamily="34" charset="-122"/>
                <a:cs typeface="Cambria" pitchFamily="34" charset="-120"/>
              </a:rPr>
              <a:t>Paillier: 50 readings</a:t>
            </a:r>
            <a:endParaRPr lang="en-US" sz="2000" dirty="0"/>
          </a:p>
        </p:txBody>
      </p:sp>
      <p:sp>
        <p:nvSpPr>
          <p:cNvPr id="5" name="Text 3"/>
          <p:cNvSpPr txBox="1"/>
          <p:nvPr/>
        </p:nvSpPr>
        <p:spPr>
          <a:xfrm>
            <a:off x="731520" y="1783080"/>
            <a:ext cx="3474720" cy="914400"/>
          </a:xfrm>
          <a:prstGeom prst="rect">
            <a:avLst/>
          </a:prstGeom>
          <a:noFill/>
          <a:ln/>
        </p:spPr>
        <p:txBody>
          <a:bodyPr wrap="square" lIns="0" tIns="0" rIns="0" bIns="0" rtlCol="0" anchor="ctr"/>
          <a:lstStyle/>
          <a:p>
            <a:pPr indent="0" marL="0">
              <a:buNone/>
            </a:pPr>
            <a:r>
              <a:rPr lang="en-US" sz="4400" b="1" dirty="0">
                <a:solidFill>
                  <a:srgbClr val="D1495B"/>
                </a:solidFill>
                <a:latin typeface="Cambria" pitchFamily="34" charset="0"/>
                <a:ea typeface="Cambria" pitchFamily="34" charset="-122"/>
                <a:cs typeface="Cambria" pitchFamily="34" charset="-120"/>
              </a:rPr>
              <a:t>≈ 6.3 s</a:t>
            </a:r>
            <a:endParaRPr lang="en-US" sz="4400" dirty="0"/>
          </a:p>
        </p:txBody>
      </p:sp>
      <p:sp>
        <p:nvSpPr>
          <p:cNvPr id="6" name="Text 4"/>
          <p:cNvSpPr txBox="1"/>
          <p:nvPr/>
        </p:nvSpPr>
        <p:spPr>
          <a:xfrm>
            <a:off x="731520" y="2788920"/>
            <a:ext cx="347472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D3A"/>
                </a:solidFill>
              </a:rPr>
              <a:t>One value per ciphertext</a:t>
            </a:r>
            <a:endParaRPr lang="en-US" sz="1500" dirty="0"/>
          </a:p>
          <a:p>
            <a:pPr marL="342900" indent="-342900">
              <a:spcAft>
                <a:spcPts val="600"/>
              </a:spcAft>
              <a:buSzPct val="100000"/>
              <a:buChar char="•"/>
            </a:pPr>
            <a:r>
              <a:rPr lang="en-US" sz="1500" dirty="0">
                <a:solidFill>
                  <a:srgbClr val="1F2D3A"/>
                </a:solidFill>
              </a:rPr>
              <a:t>50 ciphertexts × 126 ms</a:t>
            </a:r>
            <a:endParaRPr lang="en-US" sz="1500" dirty="0"/>
          </a:p>
          <a:p>
            <a:pPr marL="342900" indent="-342900">
              <a:spcAft>
                <a:spcPts val="600"/>
              </a:spcAft>
              <a:buSzPct val="100000"/>
              <a:buChar char="•"/>
            </a:pPr>
            <a:r>
              <a:rPr lang="en-US" sz="1500" dirty="0">
                <a:solidFill>
                  <a:srgbClr val="1F2D3A"/>
                </a:solidFill>
              </a:rPr>
              <a:t>No batching available</a:t>
            </a:r>
            <a:endParaRPr lang="en-US" sz="1500" dirty="0"/>
          </a:p>
        </p:txBody>
      </p:sp>
      <p:sp>
        <p:nvSpPr>
          <p:cNvPr id="7" name="compare"/>
          <p:cNvSpPr/>
          <p:nvPr/>
        </p:nvSpPr>
        <p:spPr>
          <a:xfrm>
            <a:off x="4663440" y="1188720"/>
            <a:ext cx="4023360" cy="3200400"/>
          </a:xfrm>
          <a:prstGeom prst="roundRect">
            <a:avLst>
              <a:gd name="adj" fmla="val 2286"/>
            </a:avLst>
          </a:prstGeom>
          <a:solidFill>
            <a:srgbClr val="EEF3F7"/>
          </a:solidFill>
          <a:ln w="12700">
            <a:solidFill>
              <a:srgbClr val="EEF3F7"/>
            </a:solidFill>
            <a:prstDash val="solid"/>
          </a:ln>
        </p:spPr>
      </p:sp>
      <p:sp>
        <p:nvSpPr>
          <p:cNvPr id="8" name="Text 6"/>
          <p:cNvSpPr txBox="1"/>
          <p:nvPr/>
        </p:nvSpPr>
        <p:spPr>
          <a:xfrm>
            <a:off x="4937760" y="1325880"/>
            <a:ext cx="3474720" cy="365760"/>
          </a:xfrm>
          <a:prstGeom prst="rect">
            <a:avLst/>
          </a:prstGeom>
          <a:noFill/>
          <a:ln/>
        </p:spPr>
        <p:txBody>
          <a:bodyPr wrap="square" lIns="0" tIns="0" rIns="0" bIns="0" rtlCol="0" anchor="ctr"/>
          <a:lstStyle/>
          <a:p>
            <a:pPr indent="0" marL="0">
              <a:buNone/>
            </a:pPr>
            <a:r>
              <a:rPr lang="en-US" sz="2000" b="1" dirty="0">
                <a:solidFill>
                  <a:srgbClr val="0B1F33"/>
                </a:solidFill>
                <a:latin typeface="Cambria" pitchFamily="34" charset="0"/>
                <a:ea typeface="Cambria" pitchFamily="34" charset="-122"/>
                <a:cs typeface="Cambria" pitchFamily="34" charset="-120"/>
              </a:rPr>
              <a:t>BFV: 50 readings</a:t>
            </a:r>
            <a:endParaRPr lang="en-US" sz="2000" dirty="0"/>
          </a:p>
        </p:txBody>
      </p:sp>
      <p:sp>
        <p:nvSpPr>
          <p:cNvPr id="9" name="Text 7"/>
          <p:cNvSpPr txBox="1"/>
          <p:nvPr/>
        </p:nvSpPr>
        <p:spPr>
          <a:xfrm>
            <a:off x="4937760" y="1783080"/>
            <a:ext cx="3474720" cy="914400"/>
          </a:xfrm>
          <a:prstGeom prst="rect">
            <a:avLst/>
          </a:prstGeom>
          <a:noFill/>
          <a:ln/>
        </p:spPr>
        <p:txBody>
          <a:bodyPr wrap="square" lIns="0" tIns="0" rIns="0" bIns="0" rtlCol="0" anchor="ctr"/>
          <a:lstStyle/>
          <a:p>
            <a:pPr indent="0" marL="0">
              <a:buNone/>
            </a:pPr>
            <a:r>
              <a:rPr lang="en-US" sz="4400" b="1" dirty="0">
                <a:solidFill>
                  <a:srgbClr val="1B998B"/>
                </a:solidFill>
                <a:latin typeface="Cambria" pitchFamily="34" charset="0"/>
                <a:ea typeface="Cambria" pitchFamily="34" charset="-122"/>
                <a:cs typeface="Cambria" pitchFamily="34" charset="-120"/>
              </a:rPr>
              <a:t>2.2 ms</a:t>
            </a:r>
            <a:endParaRPr lang="en-US" sz="4400" dirty="0"/>
          </a:p>
        </p:txBody>
      </p:sp>
      <p:sp>
        <p:nvSpPr>
          <p:cNvPr id="10" name="Text 8"/>
          <p:cNvSpPr txBox="1"/>
          <p:nvPr/>
        </p:nvSpPr>
        <p:spPr>
          <a:xfrm>
            <a:off x="4937760" y="2788920"/>
            <a:ext cx="347472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D3A"/>
                </a:solidFill>
              </a:rPr>
              <a:t>One batched ciphertext</a:t>
            </a:r>
            <a:endParaRPr lang="en-US" sz="1500" dirty="0"/>
          </a:p>
          <a:p>
            <a:pPr marL="342900" indent="-342900">
              <a:spcAft>
                <a:spcPts val="600"/>
              </a:spcAft>
              <a:buSzPct val="100000"/>
              <a:buChar char="•"/>
            </a:pPr>
            <a:r>
              <a:rPr lang="en-US" sz="1500" dirty="0">
                <a:solidFill>
                  <a:srgbClr val="1F2D3A"/>
                </a:solidFill>
              </a:rPr>
              <a:t>All 50 values packed together</a:t>
            </a:r>
            <a:endParaRPr lang="en-US" sz="1500" dirty="0"/>
          </a:p>
          <a:p>
            <a:pPr marL="342900" indent="-342900">
              <a:spcAft>
                <a:spcPts val="600"/>
              </a:spcAft>
              <a:buSzPct val="100000"/>
              <a:buChar char="•"/>
            </a:pPr>
            <a:r>
              <a:rPr lang="en-US" sz="1500" dirty="0">
                <a:solidFill>
                  <a:srgbClr val="1F2D3A"/>
                </a:solidFill>
              </a:rPr>
              <a:t>Roughly 2,900× faster in total</a:t>
            </a:r>
            <a:endParaRPr lang="en-US" sz="1500" dirty="0"/>
          </a:p>
        </p:txBody>
      </p:sp>
      <p:sp>
        <p:nvSpPr>
          <p:cNvPr id="11" name="source"/>
          <p:cNvSpPr txBox="1"/>
          <p:nvPr/>
        </p:nvSpPr>
        <p:spPr>
          <a:xfrm>
            <a:off x="457200" y="4754880"/>
            <a:ext cx="7772400" cy="274320"/>
          </a:xfrm>
          <a:prstGeom prst="rect">
            <a:avLst/>
          </a:prstGeom>
          <a:noFill/>
          <a:ln/>
        </p:spPr>
        <p:txBody>
          <a:bodyPr wrap="square" lIns="0" tIns="0" rIns="0" bIns="0" rtlCol="0" anchor="ctr"/>
          <a:lstStyle/>
          <a:p>
            <a:pPr indent="0" marL="0">
              <a:buNone/>
            </a:pPr>
            <a:r>
              <a:rPr lang="en-US" sz="1000" dirty="0">
                <a:solidFill>
                  <a:srgbClr val="7A8CA0"/>
                </a:solidFill>
              </a:rPr>
              <a:t>Paillier total computed as 50 × 125.8 ms. BFV: poly degree 8192, one ciphertext holds the 400-byte payload.</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quantum question</a:t>
            </a:r>
            <a:endParaRPr lang="en-US" sz="3400" dirty="0"/>
          </a:p>
        </p:txBody>
      </p:sp>
      <p:sp>
        <p:nvSpPr>
          <p:cNvPr id="3" name="threat-row"/>
          <p:cNvSpPr/>
          <p:nvPr/>
        </p:nvSpPr>
        <p:spPr>
          <a:xfrm>
            <a:off x="548640" y="1371600"/>
            <a:ext cx="8046720" cy="914400"/>
          </a:xfrm>
          <a:prstGeom prst="roundRect">
            <a:avLst>
              <a:gd name="adj" fmla="val 8000"/>
            </a:avLst>
          </a:prstGeom>
          <a:solidFill>
            <a:srgbClr val="14344F"/>
          </a:solidFill>
          <a:ln w="12700">
            <a:solidFill>
              <a:srgbClr val="14344F"/>
            </a:solidFill>
            <a:prstDash val="solid"/>
          </a:ln>
        </p:spPr>
      </p:sp>
      <p:sp>
        <p:nvSpPr>
          <p:cNvPr id="4" name="Text 2"/>
          <p:cNvSpPr txBox="1"/>
          <p:nvPr/>
        </p:nvSpPr>
        <p:spPr>
          <a:xfrm>
            <a:off x="777240" y="1371600"/>
            <a:ext cx="1737360" cy="9144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Paillier</a:t>
            </a:r>
            <a:endParaRPr lang="en-US" sz="2000" dirty="0"/>
          </a:p>
        </p:txBody>
      </p:sp>
      <p:sp>
        <p:nvSpPr>
          <p:cNvPr id="5" name="Text 3"/>
          <p:cNvSpPr txBox="1"/>
          <p:nvPr/>
        </p:nvSpPr>
        <p:spPr>
          <a:xfrm>
            <a:off x="2560320" y="1371600"/>
            <a:ext cx="3840480" cy="914400"/>
          </a:xfrm>
          <a:prstGeom prst="rect">
            <a:avLst/>
          </a:prstGeom>
          <a:noFill/>
          <a:ln/>
        </p:spPr>
        <p:txBody>
          <a:bodyPr wrap="square" lIns="0" tIns="0" rIns="0" bIns="0" rtlCol="0" anchor="ctr"/>
          <a:lstStyle/>
          <a:p>
            <a:pPr indent="0" marL="0">
              <a:spcAft>
                <a:spcPts val="200"/>
              </a:spcAft>
              <a:buNone/>
            </a:pPr>
            <a:r>
              <a:rPr lang="en-US" sz="1400" dirty="0">
                <a:solidFill>
                  <a:srgbClr val="CADCFC"/>
                </a:solidFill>
              </a:rPr>
              <a:t>Recover p and q from n</a:t>
            </a:r>
            <a:endParaRPr lang="en-US" sz="1400" dirty="0"/>
          </a:p>
          <a:p>
            <a:pPr indent="0" marL="0">
              <a:spcAft>
                <a:spcPts val="200"/>
              </a:spcAft>
              <a:buNone/>
            </a:pPr>
            <a:r>
              <a:rPr lang="en-US" sz="1400" dirty="0">
                <a:solidFill>
                  <a:srgbClr val="FFFFFF"/>
                </a:solidFill>
              </a:rPr>
              <a:t>Shor's algorithm: polynomial time</a:t>
            </a:r>
            <a:endParaRPr lang="en-US" sz="1400" dirty="0"/>
          </a:p>
        </p:txBody>
      </p:sp>
      <p:sp>
        <p:nvSpPr>
          <p:cNvPr id="6" name="Text 4"/>
          <p:cNvSpPr txBox="1"/>
          <p:nvPr/>
        </p:nvSpPr>
        <p:spPr>
          <a:xfrm>
            <a:off x="6492240" y="1371600"/>
            <a:ext cx="1920240" cy="914400"/>
          </a:xfrm>
          <a:prstGeom prst="rect">
            <a:avLst/>
          </a:prstGeom>
          <a:noFill/>
          <a:ln/>
        </p:spPr>
        <p:txBody>
          <a:bodyPr wrap="square" lIns="0" tIns="0" rIns="0" bIns="0" rtlCol="0" anchor="ctr"/>
          <a:lstStyle/>
          <a:p>
            <a:pPr algn="r" indent="0" marL="0">
              <a:buNone/>
            </a:pPr>
            <a:r>
              <a:rPr lang="en-US" sz="1600" b="1" dirty="0">
                <a:solidFill>
                  <a:srgbClr val="D1495B"/>
                </a:solidFill>
              </a:rPr>
              <a:t>Breaks it</a:t>
            </a:r>
            <a:endParaRPr lang="en-US" sz="1600" dirty="0"/>
          </a:p>
        </p:txBody>
      </p:sp>
      <p:sp>
        <p:nvSpPr>
          <p:cNvPr id="7" name="threat-row"/>
          <p:cNvSpPr/>
          <p:nvPr/>
        </p:nvSpPr>
        <p:spPr>
          <a:xfrm>
            <a:off x="548640" y="2423160"/>
            <a:ext cx="8046720" cy="914400"/>
          </a:xfrm>
          <a:prstGeom prst="roundRect">
            <a:avLst>
              <a:gd name="adj" fmla="val 8000"/>
            </a:avLst>
          </a:prstGeom>
          <a:solidFill>
            <a:srgbClr val="14344F"/>
          </a:solidFill>
          <a:ln w="12700">
            <a:solidFill>
              <a:srgbClr val="14344F"/>
            </a:solidFill>
            <a:prstDash val="solid"/>
          </a:ln>
        </p:spPr>
      </p:sp>
      <p:sp>
        <p:nvSpPr>
          <p:cNvPr id="8" name="Text 6"/>
          <p:cNvSpPr txBox="1"/>
          <p:nvPr/>
        </p:nvSpPr>
        <p:spPr>
          <a:xfrm>
            <a:off x="777240" y="2423160"/>
            <a:ext cx="1737360" cy="9144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BFV / CKKS</a:t>
            </a:r>
            <a:endParaRPr lang="en-US" sz="2000" dirty="0"/>
          </a:p>
        </p:txBody>
      </p:sp>
      <p:sp>
        <p:nvSpPr>
          <p:cNvPr id="9" name="Text 7"/>
          <p:cNvSpPr txBox="1"/>
          <p:nvPr/>
        </p:nvSpPr>
        <p:spPr>
          <a:xfrm>
            <a:off x="2560320" y="2423160"/>
            <a:ext cx="3840480" cy="914400"/>
          </a:xfrm>
          <a:prstGeom prst="rect">
            <a:avLst/>
          </a:prstGeom>
          <a:noFill/>
          <a:ln/>
        </p:spPr>
        <p:txBody>
          <a:bodyPr wrap="square" lIns="0" tIns="0" rIns="0" bIns="0" rtlCol="0" anchor="ctr"/>
          <a:lstStyle/>
          <a:p>
            <a:pPr indent="0" marL="0">
              <a:spcAft>
                <a:spcPts val="200"/>
              </a:spcAft>
              <a:buNone/>
            </a:pPr>
            <a:r>
              <a:rPr lang="en-US" sz="1400" dirty="0">
                <a:solidFill>
                  <a:srgbClr val="CADCFC"/>
                </a:solidFill>
              </a:rPr>
              <a:t>Find short vectors in a lattice</a:t>
            </a:r>
            <a:endParaRPr lang="en-US" sz="1400" dirty="0"/>
          </a:p>
          <a:p>
            <a:pPr indent="0" marL="0">
              <a:spcAft>
                <a:spcPts val="200"/>
              </a:spcAft>
              <a:buNone/>
            </a:pPr>
            <a:r>
              <a:rPr lang="en-US" sz="1400" dirty="0">
                <a:solidFill>
                  <a:srgbClr val="FFFFFF"/>
                </a:solidFill>
              </a:rPr>
              <a:t>No known polynomial quantum algorithm</a:t>
            </a:r>
            <a:endParaRPr lang="en-US" sz="1400" dirty="0"/>
          </a:p>
        </p:txBody>
      </p:sp>
      <p:sp>
        <p:nvSpPr>
          <p:cNvPr id="10" name="Text 8"/>
          <p:cNvSpPr txBox="1"/>
          <p:nvPr/>
        </p:nvSpPr>
        <p:spPr>
          <a:xfrm>
            <a:off x="6492240" y="2423160"/>
            <a:ext cx="1920240" cy="914400"/>
          </a:xfrm>
          <a:prstGeom prst="rect">
            <a:avLst/>
          </a:prstGeom>
          <a:noFill/>
          <a:ln/>
        </p:spPr>
        <p:txBody>
          <a:bodyPr wrap="square" lIns="0" tIns="0" rIns="0" bIns="0" rtlCol="0" anchor="ctr"/>
          <a:lstStyle/>
          <a:p>
            <a:pPr algn="r" indent="0" marL="0">
              <a:buNone/>
            </a:pPr>
            <a:r>
              <a:rPr lang="en-US" sz="1600" b="1" dirty="0">
                <a:solidFill>
                  <a:srgbClr val="1B998B"/>
                </a:solidFill>
              </a:rPr>
              <a:t>Open, believed hard</a:t>
            </a:r>
            <a:endParaRPr lang="en-US" sz="1600" dirty="0"/>
          </a:p>
        </p:txBody>
      </p:sp>
      <p:sp>
        <p:nvSpPr>
          <p:cNvPr id="11" name="threat-row"/>
          <p:cNvSpPr/>
          <p:nvPr/>
        </p:nvSpPr>
        <p:spPr>
          <a:xfrm>
            <a:off x="548640" y="3474720"/>
            <a:ext cx="8046720" cy="914400"/>
          </a:xfrm>
          <a:prstGeom prst="roundRect">
            <a:avLst>
              <a:gd name="adj" fmla="val 8000"/>
            </a:avLst>
          </a:prstGeom>
          <a:solidFill>
            <a:srgbClr val="14344F"/>
          </a:solidFill>
          <a:ln w="12700">
            <a:solidFill>
              <a:srgbClr val="14344F"/>
            </a:solidFill>
            <a:prstDash val="solid"/>
          </a:ln>
        </p:spPr>
      </p:sp>
      <p:sp>
        <p:nvSpPr>
          <p:cNvPr id="12" name="Text 10"/>
          <p:cNvSpPr txBox="1"/>
          <p:nvPr/>
        </p:nvSpPr>
        <p:spPr>
          <a:xfrm>
            <a:off x="777240" y="3474720"/>
            <a:ext cx="1737360" cy="9144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AES-GCM</a:t>
            </a:r>
            <a:endParaRPr lang="en-US" sz="2000" dirty="0"/>
          </a:p>
        </p:txBody>
      </p:sp>
      <p:sp>
        <p:nvSpPr>
          <p:cNvPr id="13" name="Text 11"/>
          <p:cNvSpPr txBox="1"/>
          <p:nvPr/>
        </p:nvSpPr>
        <p:spPr>
          <a:xfrm>
            <a:off x="2560320" y="3474720"/>
            <a:ext cx="3840480" cy="914400"/>
          </a:xfrm>
          <a:prstGeom prst="rect">
            <a:avLst/>
          </a:prstGeom>
          <a:noFill/>
          <a:ln/>
        </p:spPr>
        <p:txBody>
          <a:bodyPr wrap="square" lIns="0" tIns="0" rIns="0" bIns="0" rtlCol="0" anchor="ctr"/>
          <a:lstStyle/>
          <a:p>
            <a:pPr indent="0" marL="0">
              <a:spcAft>
                <a:spcPts val="200"/>
              </a:spcAft>
              <a:buNone/>
            </a:pPr>
            <a:r>
              <a:rPr lang="en-US" sz="1400" dirty="0">
                <a:solidFill>
                  <a:srgbClr val="CADCFC"/>
                </a:solidFill>
              </a:rPr>
              <a:t>Search the key space</a:t>
            </a:r>
            <a:endParaRPr lang="en-US" sz="1400" dirty="0"/>
          </a:p>
          <a:p>
            <a:pPr indent="0" marL="0">
              <a:spcAft>
                <a:spcPts val="200"/>
              </a:spcAft>
              <a:buNone/>
            </a:pPr>
            <a:r>
              <a:rPr lang="en-US" sz="1400" dirty="0">
                <a:solidFill>
                  <a:srgbClr val="FFFFFF"/>
                </a:solidFill>
              </a:rPr>
              <a:t>Grover: square-root speedup</a:t>
            </a:r>
            <a:endParaRPr lang="en-US" sz="1400" dirty="0"/>
          </a:p>
        </p:txBody>
      </p:sp>
      <p:sp>
        <p:nvSpPr>
          <p:cNvPr id="14" name="Text 12"/>
          <p:cNvSpPr txBox="1"/>
          <p:nvPr/>
        </p:nvSpPr>
        <p:spPr>
          <a:xfrm>
            <a:off x="6492240" y="3474720"/>
            <a:ext cx="1920240" cy="914400"/>
          </a:xfrm>
          <a:prstGeom prst="rect">
            <a:avLst/>
          </a:prstGeom>
          <a:noFill/>
          <a:ln/>
        </p:spPr>
        <p:txBody>
          <a:bodyPr wrap="square" lIns="0" tIns="0" rIns="0" bIns="0" rtlCol="0" anchor="ctr"/>
          <a:lstStyle/>
          <a:p>
            <a:pPr algn="r" indent="0" marL="0">
              <a:buNone/>
            </a:pPr>
            <a:r>
              <a:rPr lang="en-US" sz="1600" b="1" dirty="0">
                <a:solidFill>
                  <a:srgbClr val="F2A900"/>
                </a:solidFill>
              </a:rPr>
              <a:t>Halves the key bits</a:t>
            </a:r>
            <a:endParaRPr lang="en-US" sz="1600" dirty="0"/>
          </a:p>
        </p:txBody>
      </p:sp>
      <p:sp>
        <p:nvSpPr>
          <p:cNvPr id="15" name="Text 13"/>
          <p:cNvSpPr txBox="1"/>
          <p:nvPr/>
        </p:nvSpPr>
        <p:spPr>
          <a:xfrm>
            <a:off x="548640" y="4526280"/>
            <a:ext cx="8046720" cy="320040"/>
          </a:xfrm>
          <a:prstGeom prst="rect">
            <a:avLst/>
          </a:prstGeom>
          <a:noFill/>
          <a:ln/>
        </p:spPr>
        <p:txBody>
          <a:bodyPr wrap="square" lIns="0" tIns="0" rIns="0" bIns="0" rtlCol="0" anchor="ctr"/>
          <a:lstStyle/>
          <a:p>
            <a:pPr indent="0" marL="0">
              <a:buNone/>
            </a:pPr>
            <a:r>
              <a:rPr lang="en-US" sz="1600" b="1" dirty="0">
                <a:solidFill>
                  <a:srgbClr val="F2A900"/>
                </a:solidFill>
              </a:rPr>
              <a:t>Claim to test: Paillier falls to Shor. So I ran it.</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1F33"/>
                </a:solidFill>
                <a:latin typeface="Cambria" pitchFamily="34" charset="0"/>
                <a:ea typeface="Cambria" pitchFamily="34" charset="-122"/>
                <a:cs typeface="Cambria" pitchFamily="34" charset="-120"/>
              </a:rPr>
              <a:t>I ran Shor's attack on a real Paillier key</a:t>
            </a:r>
            <a:endParaRPr lang="en-US" sz="2800" dirty="0"/>
          </a:p>
        </p:txBody>
      </p:sp>
      <p:sp>
        <p:nvSpPr>
          <p:cNvPr id="3" name="step"/>
          <p:cNvSpPr/>
          <p:nvPr/>
        </p:nvSpPr>
        <p:spPr>
          <a:xfrm>
            <a:off x="457200" y="1188720"/>
            <a:ext cx="1920240" cy="2103120"/>
          </a:xfrm>
          <a:prstGeom prst="roundRect">
            <a:avLst>
              <a:gd name="adj" fmla="val 3810"/>
            </a:avLst>
          </a:prstGeom>
          <a:solidFill>
            <a:srgbClr val="EEF3F7"/>
          </a:solidFill>
          <a:ln w="12700">
            <a:solidFill>
              <a:srgbClr val="EEF3F7"/>
            </a:solidFill>
            <a:prstDash val="solid"/>
          </a:ln>
        </p:spPr>
      </p:sp>
      <p:sp>
        <p:nvSpPr>
          <p:cNvPr id="4" name="Shape 2"/>
          <p:cNvSpPr/>
          <p:nvPr/>
        </p:nvSpPr>
        <p:spPr>
          <a:xfrm>
            <a:off x="594360" y="1325880"/>
            <a:ext cx="457200" cy="457200"/>
          </a:xfrm>
          <a:prstGeom prst="ellipse">
            <a:avLst/>
          </a:prstGeom>
          <a:solidFill>
            <a:srgbClr val="14344F"/>
          </a:solidFill>
          <a:ln w="12700">
            <a:solidFill>
              <a:srgbClr val="14344F"/>
            </a:solidFill>
            <a:prstDash val="solid"/>
          </a:ln>
        </p:spPr>
      </p:sp>
      <p:sp>
        <p:nvSpPr>
          <p:cNvPr id="5" name="Text 3"/>
          <p:cNvSpPr txBox="1"/>
          <p:nvPr/>
        </p:nvSpPr>
        <p:spPr>
          <a:xfrm>
            <a:off x="59436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594360" y="1874520"/>
            <a:ext cx="1645920" cy="457200"/>
          </a:xfrm>
          <a:prstGeom prst="rect">
            <a:avLst/>
          </a:prstGeom>
          <a:noFill/>
          <a:ln/>
        </p:spPr>
        <p:txBody>
          <a:bodyPr wrap="square" lIns="0" tIns="0" rIns="0" bIns="0" rtlCol="0" anchor="t"/>
          <a:lstStyle/>
          <a:p>
            <a:pPr indent="0" marL="0">
              <a:buNone/>
            </a:pPr>
            <a:r>
              <a:rPr lang="en-US" sz="1500" b="1" dirty="0">
                <a:solidFill>
                  <a:srgbClr val="0B1F33"/>
                </a:solidFill>
              </a:rPr>
              <a:t>Real key and ciphertext</a:t>
            </a:r>
            <a:endParaRPr lang="en-US" sz="1500" dirty="0"/>
          </a:p>
        </p:txBody>
      </p:sp>
      <p:sp>
        <p:nvSpPr>
          <p:cNvPr id="7" name="Text 5"/>
          <p:cNvSpPr txBox="1"/>
          <p:nvPr/>
        </p:nvSpPr>
        <p:spPr>
          <a:xfrm>
            <a:off x="594360" y="2331720"/>
            <a:ext cx="1645920" cy="914400"/>
          </a:xfrm>
          <a:prstGeom prst="rect">
            <a:avLst/>
          </a:prstGeom>
          <a:noFill/>
          <a:ln/>
        </p:spPr>
        <p:txBody>
          <a:bodyPr wrap="square" lIns="0" tIns="0" rIns="0" bIns="0" rtlCol="0" anchor="t"/>
          <a:lstStyle/>
          <a:p>
            <a:pPr indent="0" marL="0">
              <a:buNone/>
            </a:pPr>
            <a:r>
              <a:rPr lang="en-US" sz="1300" dirty="0">
                <a:solidFill>
                  <a:srgbClr val="1F2D3A"/>
                </a:solidFill>
              </a:rPr>
              <a:t>phe key, n = 667 = 23 × 29, encrypts a smart-grid reading</a:t>
            </a:r>
            <a:endParaRPr lang="en-US" sz="1300" dirty="0"/>
          </a:p>
        </p:txBody>
      </p:sp>
      <p:sp>
        <p:nvSpPr>
          <p:cNvPr id="8" name="step"/>
          <p:cNvSpPr/>
          <p:nvPr/>
        </p:nvSpPr>
        <p:spPr>
          <a:xfrm>
            <a:off x="2560320" y="1188720"/>
            <a:ext cx="1920240" cy="2103120"/>
          </a:xfrm>
          <a:prstGeom prst="roundRect">
            <a:avLst>
              <a:gd name="adj" fmla="val 3810"/>
            </a:avLst>
          </a:prstGeom>
          <a:solidFill>
            <a:srgbClr val="EEF3F7"/>
          </a:solidFill>
          <a:ln w="12700">
            <a:solidFill>
              <a:srgbClr val="EEF3F7"/>
            </a:solidFill>
            <a:prstDash val="solid"/>
          </a:ln>
        </p:spPr>
      </p:sp>
      <p:sp>
        <p:nvSpPr>
          <p:cNvPr id="9" name="Shape 7"/>
          <p:cNvSpPr/>
          <p:nvPr/>
        </p:nvSpPr>
        <p:spPr>
          <a:xfrm>
            <a:off x="2697480" y="1325880"/>
            <a:ext cx="457200" cy="457200"/>
          </a:xfrm>
          <a:prstGeom prst="ellipse">
            <a:avLst/>
          </a:prstGeom>
          <a:solidFill>
            <a:srgbClr val="14344F"/>
          </a:solidFill>
          <a:ln w="12700">
            <a:solidFill>
              <a:srgbClr val="14344F"/>
            </a:solidFill>
            <a:prstDash val="solid"/>
          </a:ln>
        </p:spPr>
      </p:sp>
      <p:sp>
        <p:nvSpPr>
          <p:cNvPr id="10" name="Text 8"/>
          <p:cNvSpPr txBox="1"/>
          <p:nvPr/>
        </p:nvSpPr>
        <p:spPr>
          <a:xfrm>
            <a:off x="269748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1" name="Text 9"/>
          <p:cNvSpPr txBox="1"/>
          <p:nvPr/>
        </p:nvSpPr>
        <p:spPr>
          <a:xfrm>
            <a:off x="2697480" y="1874520"/>
            <a:ext cx="1645920" cy="457200"/>
          </a:xfrm>
          <a:prstGeom prst="rect">
            <a:avLst/>
          </a:prstGeom>
          <a:noFill/>
          <a:ln/>
        </p:spPr>
        <p:txBody>
          <a:bodyPr wrap="square" lIns="0" tIns="0" rIns="0" bIns="0" rtlCol="0" anchor="t"/>
          <a:lstStyle/>
          <a:p>
            <a:pPr indent="0" marL="0">
              <a:buNone/>
            </a:pPr>
            <a:r>
              <a:rPr lang="en-US" sz="1500" b="1" dirty="0">
                <a:solidFill>
                  <a:srgbClr val="0B1F33"/>
                </a:solidFill>
              </a:rPr>
              <a:t>Quantum order-finding</a:t>
            </a:r>
            <a:endParaRPr lang="en-US" sz="1500" dirty="0"/>
          </a:p>
        </p:txBody>
      </p:sp>
      <p:sp>
        <p:nvSpPr>
          <p:cNvPr id="12" name="Text 10"/>
          <p:cNvSpPr txBox="1"/>
          <p:nvPr/>
        </p:nvSpPr>
        <p:spPr>
          <a:xfrm>
            <a:off x="2697480" y="2331720"/>
            <a:ext cx="1645920" cy="914400"/>
          </a:xfrm>
          <a:prstGeom prst="rect">
            <a:avLst/>
          </a:prstGeom>
          <a:noFill/>
          <a:ln/>
        </p:spPr>
        <p:txBody>
          <a:bodyPr wrap="square" lIns="0" tIns="0" rIns="0" bIns="0" rtlCol="0" anchor="t"/>
          <a:lstStyle/>
          <a:p>
            <a:pPr indent="0" marL="0">
              <a:buNone/>
            </a:pPr>
            <a:r>
              <a:rPr lang="en-US" sz="1300" dirty="0">
                <a:solidFill>
                  <a:srgbClr val="1F2D3A"/>
                </a:solidFill>
              </a:rPr>
              <a:t>Qiskit Aer, 10 + 10 qubits, 2,048 shots</a:t>
            </a:r>
            <a:endParaRPr lang="en-US" sz="1300" dirty="0"/>
          </a:p>
        </p:txBody>
      </p:sp>
      <p:sp>
        <p:nvSpPr>
          <p:cNvPr id="13" name="step"/>
          <p:cNvSpPr/>
          <p:nvPr/>
        </p:nvSpPr>
        <p:spPr>
          <a:xfrm>
            <a:off x="4663440" y="1188720"/>
            <a:ext cx="1920240" cy="2103120"/>
          </a:xfrm>
          <a:prstGeom prst="roundRect">
            <a:avLst>
              <a:gd name="adj" fmla="val 3810"/>
            </a:avLst>
          </a:prstGeom>
          <a:solidFill>
            <a:srgbClr val="EEF3F7"/>
          </a:solidFill>
          <a:ln w="12700">
            <a:solidFill>
              <a:srgbClr val="EEF3F7"/>
            </a:solidFill>
            <a:prstDash val="solid"/>
          </a:ln>
        </p:spPr>
      </p:sp>
      <p:sp>
        <p:nvSpPr>
          <p:cNvPr id="14" name="Shape 12"/>
          <p:cNvSpPr/>
          <p:nvPr/>
        </p:nvSpPr>
        <p:spPr>
          <a:xfrm>
            <a:off x="4800600" y="1325880"/>
            <a:ext cx="457200" cy="457200"/>
          </a:xfrm>
          <a:prstGeom prst="ellipse">
            <a:avLst/>
          </a:prstGeom>
          <a:solidFill>
            <a:srgbClr val="14344F"/>
          </a:solidFill>
          <a:ln w="12700">
            <a:solidFill>
              <a:srgbClr val="14344F"/>
            </a:solidFill>
            <a:prstDash val="solid"/>
          </a:ln>
        </p:spPr>
      </p:sp>
      <p:sp>
        <p:nvSpPr>
          <p:cNvPr id="15" name="Text 13"/>
          <p:cNvSpPr txBox="1"/>
          <p:nvPr/>
        </p:nvSpPr>
        <p:spPr>
          <a:xfrm>
            <a:off x="480060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6" name="Text 14"/>
          <p:cNvSpPr txBox="1"/>
          <p:nvPr/>
        </p:nvSpPr>
        <p:spPr>
          <a:xfrm>
            <a:off x="4800600" y="1874520"/>
            <a:ext cx="1645920" cy="457200"/>
          </a:xfrm>
          <a:prstGeom prst="rect">
            <a:avLst/>
          </a:prstGeom>
          <a:noFill/>
          <a:ln/>
        </p:spPr>
        <p:txBody>
          <a:bodyPr wrap="square" lIns="0" tIns="0" rIns="0" bIns="0" rtlCol="0" anchor="t"/>
          <a:lstStyle/>
          <a:p>
            <a:pPr indent="0" marL="0">
              <a:buNone/>
            </a:pPr>
            <a:r>
              <a:rPr lang="en-US" sz="1500" b="1" dirty="0">
                <a:solidFill>
                  <a:srgbClr val="0B1F33"/>
                </a:solidFill>
              </a:rPr>
              <a:t>Factor n</a:t>
            </a:r>
            <a:endParaRPr lang="en-US" sz="1500" dirty="0"/>
          </a:p>
        </p:txBody>
      </p:sp>
      <p:sp>
        <p:nvSpPr>
          <p:cNvPr id="17" name="Text 15"/>
          <p:cNvSpPr txBox="1"/>
          <p:nvPr/>
        </p:nvSpPr>
        <p:spPr>
          <a:xfrm>
            <a:off x="4800600" y="2331720"/>
            <a:ext cx="1645920" cy="914400"/>
          </a:xfrm>
          <a:prstGeom prst="rect">
            <a:avLst/>
          </a:prstGeom>
          <a:noFill/>
          <a:ln/>
        </p:spPr>
        <p:txBody>
          <a:bodyPr wrap="square" lIns="0" tIns="0" rIns="0" bIns="0" rtlCol="0" anchor="t"/>
          <a:lstStyle/>
          <a:p>
            <a:pPr indent="0" marL="0">
              <a:buNone/>
            </a:pPr>
            <a:r>
              <a:rPr lang="en-US" sz="1300" dirty="0">
                <a:solidFill>
                  <a:srgbClr val="1F2D3A"/>
                </a:solidFill>
              </a:rPr>
              <a:t>Measured order 308 gives 23 and 29</a:t>
            </a:r>
            <a:endParaRPr lang="en-US" sz="1300" dirty="0"/>
          </a:p>
        </p:txBody>
      </p:sp>
      <p:sp>
        <p:nvSpPr>
          <p:cNvPr id="18" name="step"/>
          <p:cNvSpPr/>
          <p:nvPr/>
        </p:nvSpPr>
        <p:spPr>
          <a:xfrm>
            <a:off x="6766560" y="1188720"/>
            <a:ext cx="1920240" cy="2103120"/>
          </a:xfrm>
          <a:prstGeom prst="roundRect">
            <a:avLst>
              <a:gd name="adj" fmla="val 3810"/>
            </a:avLst>
          </a:prstGeom>
          <a:solidFill>
            <a:srgbClr val="EEF3F7"/>
          </a:solidFill>
          <a:ln w="12700">
            <a:solidFill>
              <a:srgbClr val="EEF3F7"/>
            </a:solidFill>
            <a:prstDash val="solid"/>
          </a:ln>
        </p:spPr>
      </p:sp>
      <p:sp>
        <p:nvSpPr>
          <p:cNvPr id="19" name="Shape 17"/>
          <p:cNvSpPr/>
          <p:nvPr/>
        </p:nvSpPr>
        <p:spPr>
          <a:xfrm>
            <a:off x="6903720" y="1325880"/>
            <a:ext cx="457200" cy="457200"/>
          </a:xfrm>
          <a:prstGeom prst="ellipse">
            <a:avLst/>
          </a:prstGeom>
          <a:solidFill>
            <a:srgbClr val="1B998B"/>
          </a:solidFill>
          <a:ln w="12700">
            <a:solidFill>
              <a:srgbClr val="14344F"/>
            </a:solidFill>
            <a:prstDash val="solid"/>
          </a:ln>
        </p:spPr>
      </p:sp>
      <p:sp>
        <p:nvSpPr>
          <p:cNvPr id="20" name="Text 18"/>
          <p:cNvSpPr txBox="1"/>
          <p:nvPr/>
        </p:nvSpPr>
        <p:spPr>
          <a:xfrm>
            <a:off x="69037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1" name="Text 19"/>
          <p:cNvSpPr txBox="1"/>
          <p:nvPr/>
        </p:nvSpPr>
        <p:spPr>
          <a:xfrm>
            <a:off x="6903720" y="1874520"/>
            <a:ext cx="1645920" cy="457200"/>
          </a:xfrm>
          <a:prstGeom prst="rect">
            <a:avLst/>
          </a:prstGeom>
          <a:noFill/>
          <a:ln/>
        </p:spPr>
        <p:txBody>
          <a:bodyPr wrap="square" lIns="0" tIns="0" rIns="0" bIns="0" rtlCol="0" anchor="t"/>
          <a:lstStyle/>
          <a:p>
            <a:pPr indent="0" marL="0">
              <a:buNone/>
            </a:pPr>
            <a:r>
              <a:rPr lang="en-US" sz="1500" b="1" dirty="0">
                <a:solidFill>
                  <a:srgbClr val="0B1F33"/>
                </a:solidFill>
              </a:rPr>
              <a:t>Decrypt</a:t>
            </a:r>
            <a:endParaRPr lang="en-US" sz="1500" dirty="0"/>
          </a:p>
        </p:txBody>
      </p:sp>
      <p:sp>
        <p:nvSpPr>
          <p:cNvPr id="22" name="Text 20"/>
          <p:cNvSpPr txBox="1"/>
          <p:nvPr/>
        </p:nvSpPr>
        <p:spPr>
          <a:xfrm>
            <a:off x="6903720" y="2331720"/>
            <a:ext cx="1645920" cy="914400"/>
          </a:xfrm>
          <a:prstGeom prst="rect">
            <a:avLst/>
          </a:prstGeom>
          <a:noFill/>
          <a:ln/>
        </p:spPr>
        <p:txBody>
          <a:bodyPr wrap="square" lIns="0" tIns="0" rIns="0" bIns="0" rtlCol="0" anchor="t"/>
          <a:lstStyle/>
          <a:p>
            <a:pPr indent="0" marL="0">
              <a:buNone/>
            </a:pPr>
            <a:r>
              <a:rPr lang="en-US" sz="1300" dirty="0">
                <a:solidFill>
                  <a:srgbClr val="1F2D3A"/>
                </a:solidFill>
              </a:rPr>
              <a:t>Key rebuilt from factors: 136 equals 136</a:t>
            </a:r>
            <a:endParaRPr lang="en-US" sz="1300" dirty="0"/>
          </a:p>
        </p:txBody>
      </p:sp>
      <p:sp>
        <p:nvSpPr>
          <p:cNvPr id="23" name="Text 21"/>
          <p:cNvSpPr txBox="1"/>
          <p:nvPr/>
        </p:nvSpPr>
        <p:spPr>
          <a:xfrm>
            <a:off x="457200" y="3520440"/>
            <a:ext cx="2651760" cy="640080"/>
          </a:xfrm>
          <a:prstGeom prst="rect">
            <a:avLst/>
          </a:prstGeom>
          <a:noFill/>
          <a:ln/>
        </p:spPr>
        <p:txBody>
          <a:bodyPr wrap="square" lIns="0" tIns="0" rIns="0" bIns="0" rtlCol="0" anchor="ctr"/>
          <a:lstStyle/>
          <a:p>
            <a:pPr algn="ctr" indent="0" marL="0">
              <a:buNone/>
            </a:pPr>
            <a:r>
              <a:rPr lang="en-US" sz="3800" b="1" dirty="0">
                <a:solidFill>
                  <a:srgbClr val="0B1F33"/>
                </a:solidFill>
                <a:latin typeface="Cambria" pitchFamily="34" charset="0"/>
                <a:ea typeface="Cambria" pitchFamily="34" charset="-122"/>
                <a:cs typeface="Cambria" pitchFamily="34" charset="-120"/>
              </a:rPr>
              <a:t>20</a:t>
            </a:r>
            <a:endParaRPr lang="en-US" sz="3800" dirty="0"/>
          </a:p>
        </p:txBody>
      </p:sp>
      <p:sp>
        <p:nvSpPr>
          <p:cNvPr id="24" name="Text 22"/>
          <p:cNvSpPr txBox="1"/>
          <p:nvPr/>
        </p:nvSpPr>
        <p:spPr>
          <a:xfrm>
            <a:off x="457200" y="4160520"/>
            <a:ext cx="2651760" cy="365760"/>
          </a:xfrm>
          <a:prstGeom prst="rect">
            <a:avLst/>
          </a:prstGeom>
          <a:noFill/>
          <a:ln/>
        </p:spPr>
        <p:txBody>
          <a:bodyPr wrap="square" lIns="0" tIns="0" rIns="0" bIns="0" rtlCol="0" anchor="ctr"/>
          <a:lstStyle/>
          <a:p>
            <a:pPr algn="ctr" indent="0" marL="0">
              <a:buNone/>
            </a:pPr>
            <a:r>
              <a:rPr lang="en-US" sz="1400" dirty="0">
                <a:solidFill>
                  <a:srgbClr val="1F2D3A"/>
                </a:solidFill>
              </a:rPr>
              <a:t>qubits simulated</a:t>
            </a:r>
            <a:endParaRPr lang="en-US" sz="1400" dirty="0"/>
          </a:p>
        </p:txBody>
      </p:sp>
      <p:sp>
        <p:nvSpPr>
          <p:cNvPr id="25" name="Text 23"/>
          <p:cNvSpPr txBox="1"/>
          <p:nvPr/>
        </p:nvSpPr>
        <p:spPr>
          <a:xfrm>
            <a:off x="3291840" y="3520440"/>
            <a:ext cx="2651760" cy="640080"/>
          </a:xfrm>
          <a:prstGeom prst="rect">
            <a:avLst/>
          </a:prstGeom>
          <a:noFill/>
          <a:ln/>
        </p:spPr>
        <p:txBody>
          <a:bodyPr wrap="square" lIns="0" tIns="0" rIns="0" bIns="0" rtlCol="0" anchor="ctr"/>
          <a:lstStyle/>
          <a:p>
            <a:pPr algn="ctr" indent="0" marL="0">
              <a:buNone/>
            </a:pPr>
            <a:r>
              <a:rPr lang="en-US" sz="3800" b="1" dirty="0">
                <a:solidFill>
                  <a:srgbClr val="0B1F33"/>
                </a:solidFill>
                <a:latin typeface="Cambria" pitchFamily="34" charset="0"/>
                <a:ea typeface="Cambria" pitchFamily="34" charset="-122"/>
                <a:cs typeface="Cambria" pitchFamily="34" charset="-120"/>
              </a:rPr>
              <a:t>155 s</a:t>
            </a:r>
            <a:endParaRPr lang="en-US" sz="3800" dirty="0"/>
          </a:p>
        </p:txBody>
      </p:sp>
      <p:sp>
        <p:nvSpPr>
          <p:cNvPr id="26" name="Text 24"/>
          <p:cNvSpPr txBox="1"/>
          <p:nvPr/>
        </p:nvSpPr>
        <p:spPr>
          <a:xfrm>
            <a:off x="3291840" y="4160520"/>
            <a:ext cx="2651760" cy="365760"/>
          </a:xfrm>
          <a:prstGeom prst="rect">
            <a:avLst/>
          </a:prstGeom>
          <a:noFill/>
          <a:ln/>
        </p:spPr>
        <p:txBody>
          <a:bodyPr wrap="square" lIns="0" tIns="0" rIns="0" bIns="0" rtlCol="0" anchor="ctr"/>
          <a:lstStyle/>
          <a:p>
            <a:pPr algn="ctr" indent="0" marL="0">
              <a:buNone/>
            </a:pPr>
            <a:r>
              <a:rPr lang="en-US" sz="1400" dirty="0">
                <a:solidFill>
                  <a:srgbClr val="1F2D3A"/>
                </a:solidFill>
              </a:rPr>
              <a:t>attack runtime</a:t>
            </a:r>
            <a:endParaRPr lang="en-US" sz="1400" dirty="0"/>
          </a:p>
        </p:txBody>
      </p:sp>
      <p:sp>
        <p:nvSpPr>
          <p:cNvPr id="27" name="Text 25"/>
          <p:cNvSpPr txBox="1"/>
          <p:nvPr/>
        </p:nvSpPr>
        <p:spPr>
          <a:xfrm>
            <a:off x="6126480" y="3520440"/>
            <a:ext cx="2651760" cy="640080"/>
          </a:xfrm>
          <a:prstGeom prst="rect">
            <a:avLst/>
          </a:prstGeom>
          <a:noFill/>
          <a:ln/>
        </p:spPr>
        <p:txBody>
          <a:bodyPr wrap="square" lIns="0" tIns="0" rIns="0" bIns="0" rtlCol="0" anchor="ctr"/>
          <a:lstStyle/>
          <a:p>
            <a:pPr algn="ctr" indent="0" marL="0">
              <a:buNone/>
            </a:pPr>
            <a:r>
              <a:rPr lang="en-US" sz="3400" b="1" dirty="0">
                <a:solidFill>
                  <a:srgbClr val="1B998B"/>
                </a:solidFill>
                <a:latin typeface="Cambria" pitchFamily="34" charset="0"/>
                <a:ea typeface="Cambria" pitchFamily="34" charset="-122"/>
                <a:cs typeface="Cambria" pitchFamily="34" charset="-120"/>
              </a:rPr>
              <a:t>136 = 136</a:t>
            </a:r>
            <a:endParaRPr lang="en-US" sz="3400" dirty="0"/>
          </a:p>
        </p:txBody>
      </p:sp>
      <p:sp>
        <p:nvSpPr>
          <p:cNvPr id="28" name="Text 26"/>
          <p:cNvSpPr txBox="1"/>
          <p:nvPr/>
        </p:nvSpPr>
        <p:spPr>
          <a:xfrm>
            <a:off x="6126480" y="4160520"/>
            <a:ext cx="2651760" cy="365760"/>
          </a:xfrm>
          <a:prstGeom prst="rect">
            <a:avLst/>
          </a:prstGeom>
          <a:noFill/>
          <a:ln/>
        </p:spPr>
        <p:txBody>
          <a:bodyPr wrap="square" lIns="0" tIns="0" rIns="0" bIns="0" rtlCol="0" anchor="ctr"/>
          <a:lstStyle/>
          <a:p>
            <a:pPr algn="ctr" indent="0" marL="0">
              <a:buNone/>
            </a:pPr>
            <a:r>
              <a:rPr lang="en-US" sz="1400" dirty="0">
                <a:solidFill>
                  <a:srgbClr val="1F2D3A"/>
                </a:solidFill>
              </a:rPr>
              <a:t>decrypted reading matches owner</a:t>
            </a:r>
            <a:endParaRPr lang="en-US" sz="1400" dirty="0"/>
          </a:p>
        </p:txBody>
      </p:sp>
      <p:sp>
        <p:nvSpPr>
          <p:cNvPr id="29" name="source"/>
          <p:cNvSpPr txBox="1"/>
          <p:nvPr/>
        </p:nvSpPr>
        <p:spPr>
          <a:xfrm>
            <a:off x="457200" y="4754880"/>
            <a:ext cx="7772400" cy="274320"/>
          </a:xfrm>
          <a:prstGeom prst="rect">
            <a:avLst/>
          </a:prstGeom>
          <a:noFill/>
          <a:ln/>
        </p:spPr>
        <p:txBody>
          <a:bodyPr wrap="square" lIns="0" tIns="0" rIns="0" bIns="0" rtlCol="0" anchor="ctr"/>
          <a:lstStyle/>
          <a:p>
            <a:pPr indent="0" marL="0">
              <a:buNone/>
            </a:pPr>
            <a:r>
              <a:rPr lang="en-US" sz="1000" dirty="0">
                <a:solidFill>
                  <a:srgbClr val="7A8CA0"/>
                </a:solidFill>
              </a:rPr>
              <a:t>Toy scale on a simulator. An earlier 8-bit run (n = 187) took 62 s. Code: src/quantum/shor_real_order_finding.py</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1F33"/>
                </a:solidFill>
                <a:latin typeface="Cambria" pitchFamily="34" charset="0"/>
                <a:ea typeface="Cambria" pitchFamily="34" charset="-122"/>
                <a:cs typeface="Cambria" pitchFamily="34" charset="-120"/>
              </a:rPr>
              <a:t>The gap between this demo and a real key</a:t>
            </a:r>
            <a:endParaRPr lang="en-US" sz="2800" dirty="0"/>
          </a:p>
        </p:txBody>
      </p:sp>
      <p:sp>
        <p:nvSpPr>
          <p:cNvPr id="3" name="ran"/>
          <p:cNvSpPr/>
          <p:nvPr/>
        </p:nvSpPr>
        <p:spPr>
          <a:xfrm>
            <a:off x="457200" y="1188720"/>
            <a:ext cx="4023360" cy="3246120"/>
          </a:xfrm>
          <a:prstGeom prst="roundRect">
            <a:avLst>
              <a:gd name="adj" fmla="val 2254"/>
            </a:avLst>
          </a:prstGeom>
          <a:solidFill>
            <a:srgbClr val="EEF3F7"/>
          </a:solidFill>
          <a:ln w="12700">
            <a:solidFill>
              <a:srgbClr val="EEF3F7"/>
            </a:solidFill>
            <a:prstDash val="solid"/>
          </a:ln>
        </p:spPr>
      </p:sp>
      <p:sp>
        <p:nvSpPr>
          <p:cNvPr id="4" name="Text 2"/>
          <p:cNvSpPr txBox="1"/>
          <p:nvPr/>
        </p:nvSpPr>
        <p:spPr>
          <a:xfrm>
            <a:off x="731520" y="1325880"/>
            <a:ext cx="3474720" cy="365760"/>
          </a:xfrm>
          <a:prstGeom prst="rect">
            <a:avLst/>
          </a:prstGeom>
          <a:noFill/>
          <a:ln/>
        </p:spPr>
        <p:txBody>
          <a:bodyPr wrap="square" lIns="0" tIns="0" rIns="0" bIns="0" rtlCol="0" anchor="ctr"/>
          <a:lstStyle/>
          <a:p>
            <a:pPr indent="0" marL="0">
              <a:buNone/>
            </a:pPr>
            <a:r>
              <a:rPr lang="en-US" sz="2000" b="1" dirty="0">
                <a:solidFill>
                  <a:srgbClr val="0B1F33"/>
                </a:solidFill>
                <a:latin typeface="Cambria" pitchFamily="34" charset="0"/>
                <a:ea typeface="Cambria" pitchFamily="34" charset="-122"/>
                <a:cs typeface="Cambria" pitchFamily="34" charset="-120"/>
              </a:rPr>
              <a:t>What I ran</a:t>
            </a:r>
            <a:endParaRPr lang="en-US" sz="2000" dirty="0"/>
          </a:p>
        </p:txBody>
      </p:sp>
      <p:sp>
        <p:nvSpPr>
          <p:cNvPr id="5" name="Text 3"/>
          <p:cNvSpPr txBox="1"/>
          <p:nvPr/>
        </p:nvSpPr>
        <p:spPr>
          <a:xfrm>
            <a:off x="731520" y="1828800"/>
            <a:ext cx="3474720" cy="2468880"/>
          </a:xfrm>
          <a:prstGeom prst="rect">
            <a:avLst/>
          </a:prstGeom>
          <a:noFill/>
          <a:ln/>
        </p:spPr>
        <p:txBody>
          <a:bodyPr wrap="square" lIns="0" tIns="0" rIns="0" bIns="0" rtlCol="0" anchor="t"/>
          <a:lstStyle/>
          <a:p>
            <a:pPr indent="0" marL="0">
              <a:spcAft>
                <a:spcPts val="800"/>
              </a:spcAft>
              <a:buNone/>
            </a:pPr>
            <a:r>
              <a:rPr lang="en-US" sz="3000" b="1" dirty="0">
                <a:solidFill>
                  <a:srgbClr val="1B998B"/>
                </a:solidFill>
                <a:latin typeface="Cambria" pitchFamily="34" charset="0"/>
                <a:ea typeface="Cambria" pitchFamily="34" charset="-122"/>
                <a:cs typeface="Cambria" pitchFamily="34" charset="-120"/>
              </a:rPr>
              <a:t>10-bit modulus</a:t>
            </a:r>
            <a:endParaRPr lang="en-US" sz="3000" dirty="0"/>
          </a:p>
          <a:p>
            <a:pPr indent="0" marL="0">
              <a:spcAft>
                <a:spcPts val="800"/>
              </a:spcAft>
              <a:buNone/>
            </a:pPr>
            <a:r>
              <a:rPr lang="en-US" sz="3000" b="1" dirty="0">
                <a:solidFill>
                  <a:srgbClr val="1B998B"/>
                </a:solidFill>
                <a:latin typeface="Cambria" pitchFamily="34" charset="0"/>
                <a:ea typeface="Cambria" pitchFamily="34" charset="-122"/>
                <a:cs typeface="Cambria" pitchFamily="34" charset="-120"/>
              </a:rPr>
              <a:t>20 simulated qubits</a:t>
            </a:r>
            <a:endParaRPr lang="en-US" sz="3000" dirty="0"/>
          </a:p>
          <a:p>
            <a:pPr indent="0" marL="0">
              <a:spcAft>
                <a:spcPts val="800"/>
              </a:spcAft>
              <a:buNone/>
            </a:pPr>
            <a:r>
              <a:rPr lang="en-US" sz="1400" dirty="0">
                <a:solidFill>
                  <a:srgbClr val="1F2D3A"/>
                </a:solidFill>
              </a:rPr>
              <a:t>Dense simulation cost grows steeply: 12 counting qubits at 10 bits did not finish in 280 s</a:t>
            </a:r>
            <a:endParaRPr lang="en-US" sz="3000" dirty="0"/>
          </a:p>
        </p:txBody>
      </p:sp>
      <p:sp>
        <p:nvSpPr>
          <p:cNvPr id="6" name="real"/>
          <p:cNvSpPr/>
          <p:nvPr/>
        </p:nvSpPr>
        <p:spPr>
          <a:xfrm>
            <a:off x="4663440" y="1188720"/>
            <a:ext cx="4023360" cy="3246120"/>
          </a:xfrm>
          <a:prstGeom prst="roundRect">
            <a:avLst>
              <a:gd name="adj" fmla="val 2254"/>
            </a:avLst>
          </a:prstGeom>
          <a:solidFill>
            <a:srgbClr val="EEF3F7"/>
          </a:solidFill>
          <a:ln w="12700">
            <a:solidFill>
              <a:srgbClr val="EEF3F7"/>
            </a:solidFill>
            <a:prstDash val="solid"/>
          </a:ln>
        </p:spPr>
      </p:sp>
      <p:sp>
        <p:nvSpPr>
          <p:cNvPr id="7" name="Text 5"/>
          <p:cNvSpPr txBox="1"/>
          <p:nvPr/>
        </p:nvSpPr>
        <p:spPr>
          <a:xfrm>
            <a:off x="4937760" y="1325880"/>
            <a:ext cx="3474720" cy="365760"/>
          </a:xfrm>
          <a:prstGeom prst="rect">
            <a:avLst/>
          </a:prstGeom>
          <a:noFill/>
          <a:ln/>
        </p:spPr>
        <p:txBody>
          <a:bodyPr wrap="square" lIns="0" tIns="0" rIns="0" bIns="0" rtlCol="0" anchor="ctr"/>
          <a:lstStyle/>
          <a:p>
            <a:pPr indent="0" marL="0">
              <a:buNone/>
            </a:pPr>
            <a:r>
              <a:rPr lang="en-US" sz="2000" b="1" dirty="0">
                <a:solidFill>
                  <a:srgbClr val="0B1F33"/>
                </a:solidFill>
                <a:latin typeface="Cambria" pitchFamily="34" charset="0"/>
                <a:ea typeface="Cambria" pitchFamily="34" charset="-122"/>
                <a:cs typeface="Cambria" pitchFamily="34" charset="-120"/>
              </a:rPr>
              <a:t>What a real key needs</a:t>
            </a:r>
            <a:endParaRPr lang="en-US" sz="2000" dirty="0"/>
          </a:p>
        </p:txBody>
      </p:sp>
      <p:sp>
        <p:nvSpPr>
          <p:cNvPr id="8" name="Text 6"/>
          <p:cNvSpPr txBox="1"/>
          <p:nvPr/>
        </p:nvSpPr>
        <p:spPr>
          <a:xfrm>
            <a:off x="4937760" y="1828800"/>
            <a:ext cx="3474720" cy="2468880"/>
          </a:xfrm>
          <a:prstGeom prst="rect">
            <a:avLst/>
          </a:prstGeom>
          <a:noFill/>
          <a:ln/>
        </p:spPr>
        <p:txBody>
          <a:bodyPr wrap="square" lIns="0" tIns="0" rIns="0" bIns="0" rtlCol="0" anchor="t"/>
          <a:lstStyle/>
          <a:p>
            <a:pPr indent="0" marL="0">
              <a:spcAft>
                <a:spcPts val="800"/>
              </a:spcAft>
              <a:buNone/>
            </a:pPr>
            <a:r>
              <a:rPr lang="en-US" sz="2600" b="1" dirty="0">
                <a:solidFill>
                  <a:srgbClr val="D1495B"/>
                </a:solidFill>
                <a:latin typeface="Cambria" pitchFamily="34" charset="0"/>
                <a:ea typeface="Cambria" pitchFamily="34" charset="-122"/>
                <a:cs typeface="Cambria" pitchFamily="34" charset="-120"/>
              </a:rPr>
              <a:t>2,048-bit modulus</a:t>
            </a:r>
            <a:endParaRPr lang="en-US" sz="2600" dirty="0"/>
          </a:p>
          <a:p>
            <a:pPr indent="0" marL="0">
              <a:spcAft>
                <a:spcPts val="800"/>
              </a:spcAft>
              <a:buNone/>
            </a:pPr>
            <a:r>
              <a:rPr lang="en-US" sz="2600" b="1" dirty="0">
                <a:solidFill>
                  <a:srgbClr val="D1495B"/>
                </a:solidFill>
                <a:latin typeface="Cambria" pitchFamily="34" charset="0"/>
                <a:ea typeface="Cambria" pitchFamily="34" charset="-122"/>
                <a:cs typeface="Cambria" pitchFamily="34" charset="-120"/>
              </a:rPr>
              <a:t>≈ 4,099 logical qubits</a:t>
            </a:r>
            <a:endParaRPr lang="en-US" sz="2600" dirty="0"/>
          </a:p>
          <a:p>
            <a:pPr indent="0" marL="0">
              <a:spcAft>
                <a:spcPts val="800"/>
              </a:spcAft>
              <a:buNone/>
            </a:pPr>
            <a:r>
              <a:rPr lang="en-US" sz="1400" dirty="0">
                <a:solidFill>
                  <a:srgbClr val="1F2D3A"/>
                </a:solidFill>
              </a:rPr>
              <a:t>Gidney 2025 estimate: under 1 million noisy qubits, under a week, for RSA-2048. Paillier-2048 factors the same way.</a:t>
            </a:r>
            <a:endParaRPr lang="en-US" sz="2600" dirty="0"/>
          </a:p>
        </p:txBody>
      </p:sp>
      <p:sp>
        <p:nvSpPr>
          <p:cNvPr id="9" name="source"/>
          <p:cNvSpPr txBox="1"/>
          <p:nvPr/>
        </p:nvSpPr>
        <p:spPr>
          <a:xfrm>
            <a:off x="457200" y="4754880"/>
            <a:ext cx="7772400" cy="274320"/>
          </a:xfrm>
          <a:prstGeom prst="rect">
            <a:avLst/>
          </a:prstGeom>
          <a:noFill/>
          <a:ln/>
        </p:spPr>
        <p:txBody>
          <a:bodyPr wrap="square" lIns="0" tIns="0" rIns="0" bIns="0" rtlCol="0" anchor="ctr"/>
          <a:lstStyle/>
          <a:p>
            <a:pPr indent="0" marL="0">
              <a:buNone/>
            </a:pPr>
            <a:r>
              <a:rPr lang="en-US" sz="1000" dirty="0">
                <a:solidFill>
                  <a:srgbClr val="7A8CA0"/>
                </a:solidFill>
              </a:rPr>
              <a:t>Gidney, arXiv:2505.15917 (2025); Gidney and Ekerå, Quantum 5, 433 (2021): ~20 million noisy qubits. 2n+3 is a textbook heuristic.</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Takeaways and next steps</a:t>
            </a:r>
            <a:endParaRPr lang="en-US" sz="3400" dirty="0"/>
          </a:p>
        </p:txBody>
      </p:sp>
      <p:sp>
        <p:nvSpPr>
          <p:cNvPr id="3" name="Text 1"/>
          <p:cNvSpPr txBox="1"/>
          <p:nvPr/>
        </p:nvSpPr>
        <p:spPr>
          <a:xfrm>
            <a:off x="548640" y="1280160"/>
            <a:ext cx="1463040" cy="548640"/>
          </a:xfrm>
          <a:prstGeom prst="rect">
            <a:avLst/>
          </a:prstGeom>
          <a:noFill/>
          <a:ln/>
        </p:spPr>
        <p:txBody>
          <a:bodyPr wrap="square" lIns="0" tIns="0" rIns="0" bIns="0" rtlCol="0" anchor="ctr"/>
          <a:lstStyle/>
          <a:p>
            <a:pPr indent="0" marL="0">
              <a:buNone/>
            </a:pPr>
            <a:r>
              <a:rPr lang="en-US" sz="2200" b="1" dirty="0">
                <a:solidFill>
                  <a:srgbClr val="7FE0D2"/>
                </a:solidFill>
                <a:latin typeface="Cambria" pitchFamily="34" charset="0"/>
                <a:ea typeface="Cambria" pitchFamily="34" charset="-122"/>
                <a:cs typeface="Cambria" pitchFamily="34" charset="-120"/>
              </a:rPr>
              <a:t>BFV</a:t>
            </a:r>
            <a:endParaRPr lang="en-US" sz="2200" dirty="0"/>
          </a:p>
        </p:txBody>
      </p:sp>
      <p:sp>
        <p:nvSpPr>
          <p:cNvPr id="4" name="Text 2"/>
          <p:cNvSpPr txBox="1"/>
          <p:nvPr/>
        </p:nvSpPr>
        <p:spPr>
          <a:xfrm>
            <a:off x="2103120" y="1280160"/>
            <a:ext cx="6400800" cy="548640"/>
          </a:xfrm>
          <a:prstGeom prst="rect">
            <a:avLst/>
          </a:prstGeom>
          <a:noFill/>
          <a:ln/>
        </p:spPr>
        <p:txBody>
          <a:bodyPr wrap="square" lIns="0" tIns="0" rIns="0" bIns="0" rtlCol="0" anchor="ctr"/>
          <a:lstStyle/>
          <a:p>
            <a:pPr indent="0" marL="0">
              <a:buNone/>
            </a:pPr>
            <a:r>
              <a:rPr lang="en-US" sz="1800" dirty="0">
                <a:solidFill>
                  <a:srgbClr val="FFFFFF"/>
                </a:solidFill>
              </a:rPr>
              <a:t>Best fit for exact meter sums</a:t>
            </a:r>
            <a:endParaRPr lang="en-US" sz="1800" dirty="0"/>
          </a:p>
        </p:txBody>
      </p:sp>
      <p:sp>
        <p:nvSpPr>
          <p:cNvPr id="5" name="Text 3"/>
          <p:cNvSpPr txBox="1"/>
          <p:nvPr/>
        </p:nvSpPr>
        <p:spPr>
          <a:xfrm>
            <a:off x="548640" y="2011680"/>
            <a:ext cx="1463040" cy="548640"/>
          </a:xfrm>
          <a:prstGeom prst="rect">
            <a:avLst/>
          </a:prstGeom>
          <a:noFill/>
          <a:ln/>
        </p:spPr>
        <p:txBody>
          <a:bodyPr wrap="square" lIns="0" tIns="0" rIns="0" bIns="0" rtlCol="0" anchor="ctr"/>
          <a:lstStyle/>
          <a:p>
            <a:pPr indent="0" marL="0">
              <a:buNone/>
            </a:pPr>
            <a:r>
              <a:rPr lang="en-US" sz="2200" b="1" dirty="0">
                <a:solidFill>
                  <a:srgbClr val="7FE0D2"/>
                </a:solidFill>
                <a:latin typeface="Cambria" pitchFamily="34" charset="0"/>
                <a:ea typeface="Cambria" pitchFamily="34" charset="-122"/>
                <a:cs typeface="Cambria" pitchFamily="34" charset="-120"/>
              </a:rPr>
              <a:t>CKKS</a:t>
            </a:r>
            <a:endParaRPr lang="en-US" sz="2200" dirty="0"/>
          </a:p>
        </p:txBody>
      </p:sp>
      <p:sp>
        <p:nvSpPr>
          <p:cNvPr id="6" name="Text 4"/>
          <p:cNvSpPr txBox="1"/>
          <p:nvPr/>
        </p:nvSpPr>
        <p:spPr>
          <a:xfrm>
            <a:off x="2103120" y="2011680"/>
            <a:ext cx="6400800" cy="548640"/>
          </a:xfrm>
          <a:prstGeom prst="rect">
            <a:avLst/>
          </a:prstGeom>
          <a:noFill/>
          <a:ln/>
        </p:spPr>
        <p:txBody>
          <a:bodyPr wrap="square" lIns="0" tIns="0" rIns="0" bIns="0" rtlCol="0" anchor="ctr"/>
          <a:lstStyle/>
          <a:p>
            <a:pPr indent="0" marL="0">
              <a:buNone/>
            </a:pPr>
            <a:r>
              <a:rPr lang="en-US" sz="1800" dirty="0">
                <a:solidFill>
                  <a:srgbClr val="FFFFFF"/>
                </a:solidFill>
              </a:rPr>
              <a:t>Best fit for averages and analytics</a:t>
            </a:r>
            <a:endParaRPr lang="en-US" sz="1800" dirty="0"/>
          </a:p>
        </p:txBody>
      </p:sp>
      <p:sp>
        <p:nvSpPr>
          <p:cNvPr id="7" name="Text 5"/>
          <p:cNvSpPr txBox="1"/>
          <p:nvPr/>
        </p:nvSpPr>
        <p:spPr>
          <a:xfrm>
            <a:off x="548640" y="2743200"/>
            <a:ext cx="1463040" cy="548640"/>
          </a:xfrm>
          <a:prstGeom prst="rect">
            <a:avLst/>
          </a:prstGeom>
          <a:noFill/>
          <a:ln/>
        </p:spPr>
        <p:txBody>
          <a:bodyPr wrap="square" lIns="0" tIns="0" rIns="0" bIns="0" rtlCol="0" anchor="ctr"/>
          <a:lstStyle/>
          <a:p>
            <a:pPr indent="0" marL="0">
              <a:buNone/>
            </a:pPr>
            <a:r>
              <a:rPr lang="en-US" sz="2200" b="1" dirty="0">
                <a:solidFill>
                  <a:srgbClr val="FF8A98"/>
                </a:solidFill>
                <a:latin typeface="Cambria" pitchFamily="34" charset="0"/>
                <a:ea typeface="Cambria" pitchFamily="34" charset="-122"/>
                <a:cs typeface="Cambria" pitchFamily="34" charset="-120"/>
              </a:rPr>
              <a:t>Paillier</a:t>
            </a:r>
            <a:endParaRPr lang="en-US" sz="2200" dirty="0"/>
          </a:p>
        </p:txBody>
      </p:sp>
      <p:sp>
        <p:nvSpPr>
          <p:cNvPr id="8" name="Text 6"/>
          <p:cNvSpPr txBox="1"/>
          <p:nvPr/>
        </p:nvSpPr>
        <p:spPr>
          <a:xfrm>
            <a:off x="2103120" y="2743200"/>
            <a:ext cx="6400800" cy="548640"/>
          </a:xfrm>
          <a:prstGeom prst="rect">
            <a:avLst/>
          </a:prstGeom>
          <a:noFill/>
          <a:ln/>
        </p:spPr>
        <p:txBody>
          <a:bodyPr wrap="square" lIns="0" tIns="0" rIns="0" bIns="0" rtlCol="0" anchor="ctr"/>
          <a:lstStyle/>
          <a:p>
            <a:pPr indent="0" marL="0">
              <a:buNone/>
            </a:pPr>
            <a:r>
              <a:rPr lang="en-US" sz="1800" dirty="0">
                <a:solidFill>
                  <a:srgbClr val="FFFFFF"/>
                </a:solidFill>
              </a:rPr>
              <a:t>Fast to add, slow to encrypt, and quantum-breakable</a:t>
            </a:r>
            <a:endParaRPr lang="en-US" sz="1800" dirty="0"/>
          </a:p>
        </p:txBody>
      </p:sp>
      <p:sp>
        <p:nvSpPr>
          <p:cNvPr id="9" name="Text 7"/>
          <p:cNvSpPr txBox="1"/>
          <p:nvPr/>
        </p:nvSpPr>
        <p:spPr>
          <a:xfrm>
            <a:off x="548640" y="3566160"/>
            <a:ext cx="1828800" cy="320040"/>
          </a:xfrm>
          <a:prstGeom prst="rect">
            <a:avLst/>
          </a:prstGeom>
          <a:noFill/>
          <a:ln/>
        </p:spPr>
        <p:txBody>
          <a:bodyPr wrap="square" lIns="0" tIns="0" rIns="0" bIns="0" rtlCol="0" anchor="ctr"/>
          <a:lstStyle/>
          <a:p>
            <a:pPr indent="0" marL="0">
              <a:buNone/>
            </a:pPr>
            <a:r>
              <a:rPr lang="en-US" sz="1600" b="1" dirty="0">
                <a:solidFill>
                  <a:srgbClr val="F2A900"/>
                </a:solidFill>
              </a:rPr>
              <a:t>Next</a:t>
            </a:r>
            <a:endParaRPr lang="en-US" sz="1600" dirty="0"/>
          </a:p>
        </p:txBody>
      </p:sp>
      <p:sp>
        <p:nvSpPr>
          <p:cNvPr id="10" name="Text 8"/>
          <p:cNvSpPr txBox="1"/>
          <p:nvPr/>
        </p:nvSpPr>
        <p:spPr>
          <a:xfrm>
            <a:off x="548640" y="3931920"/>
            <a:ext cx="8046720" cy="548640"/>
          </a:xfrm>
          <a:prstGeom prst="rect">
            <a:avLst/>
          </a:prstGeom>
          <a:noFill/>
          <a:ln/>
        </p:spPr>
        <p:txBody>
          <a:bodyPr wrap="square" lIns="0" tIns="0" rIns="0" bIns="0" rtlCol="0" anchor="t"/>
          <a:lstStyle/>
          <a:p>
            <a:pPr indent="0" marL="0">
              <a:buNone/>
            </a:pPr>
            <a:r>
              <a:rPr lang="en-US" sz="1500" dirty="0">
                <a:solidFill>
                  <a:srgbClr val="CADCFC"/>
                </a:solidFill>
              </a:rPr>
              <a:t>BGV third scheme  |  Raspberry Pi benchmarks  |  ML-KEM for the meter link</a:t>
            </a:r>
            <a:endParaRPr lang="en-US" sz="1500" dirty="0"/>
          </a:p>
        </p:txBody>
      </p:sp>
      <p:sp>
        <p:nvSpPr>
          <p:cNvPr id="11" name="Text 9"/>
          <p:cNvSpPr txBox="1"/>
          <p:nvPr/>
        </p:nvSpPr>
        <p:spPr>
          <a:xfrm>
            <a:off x="5669280" y="4434840"/>
            <a:ext cx="2926080" cy="365760"/>
          </a:xfrm>
          <a:prstGeom prst="rect">
            <a:avLst/>
          </a:prstGeom>
          <a:noFill/>
          <a:ln/>
        </p:spPr>
        <p:txBody>
          <a:bodyPr wrap="square" lIns="0" tIns="0" rIns="0" bIns="0" rtlCol="0" anchor="ctr"/>
          <a:lstStyle/>
          <a:p>
            <a:pPr algn="r" indent="0" marL="0">
              <a:buNone/>
            </a:pPr>
            <a:r>
              <a:rPr lang="en-US" sz="1600" b="1" dirty="0">
                <a:solidFill>
                  <a:srgbClr val="F2A900"/>
                </a:solidFill>
              </a:rPr>
              <a:t>Thank you. Questions?</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GridCipher">
  <a:themeElements>
    <a:clrScheme name="GridCipher">
      <a:dk1>
        <a:srgbClr val="0B1F33"/>
      </a:dk1>
      <a:lt1>
        <a:srgbClr val="FFFFFF"/>
      </a:lt1>
      <a:dk2>
        <a:srgbClr val="14344F"/>
      </a:dk2>
      <a:lt2>
        <a:srgbClr val="EEF3F7"/>
      </a:lt2>
      <a:accent1>
        <a:srgbClr val="F2A900"/>
      </a:accent1>
      <a:accent2>
        <a:srgbClr val="1B998B"/>
      </a:accent2>
      <a:accent3>
        <a:srgbClr val="D1495B"/>
      </a:accent3>
      <a:accent4>
        <a:srgbClr val="5B7C99"/>
      </a:accent4>
      <a:accent5>
        <a:srgbClr val="7FB7BE"/>
      </a:accent5>
      <a:accent6>
        <a:srgbClr val="3D5A80"/>
      </a:accent6>
      <a:hlink>
        <a:srgbClr val="1B998B"/>
      </a:hlink>
      <a:folHlink>
        <a:srgbClr val="5B7C99"/>
      </a:folHlink>
    </a:clrScheme>
    <a:fontScheme name="GridCiph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Homomorphic Encryption for Smart-Grid Metering and the Quantum Threat to Paillier</dc:title>
  <dc:subject>PptxGenJS Presentation</dc:subject>
  <dc:creator>Joshua Smith</dc:creator>
  <cp:lastModifiedBy>Joshua Smith</cp:lastModifiedBy>
  <cp:revision>1</cp:revision>
  <dcterms:created xsi:type="dcterms:W3CDTF">2026-10-12T19:06:28Z</dcterms:created>
  <dcterms:modified xsi:type="dcterms:W3CDTF">2026-10-12T19:06:28Z</dcterms:modified>
</cp:coreProperties>
</file>